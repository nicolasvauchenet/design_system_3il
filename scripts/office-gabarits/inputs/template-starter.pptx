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03afd4b7f2490b" /><Relationship Type="http://schemas.openxmlformats.org/officeDocument/2006/relationships/extended-properties" Target="/docProps/app.xml" Id="R372412a02b654a4c" /><Relationship Type="http://schemas.openxmlformats.org/officeDocument/2006/relationships/officeDocument" Target="/ppt/presentation.xml" Id="R106ffc8e3baa411c" /></Relationships>
</file>

<file path=ppt/presentation.xml><?xml version="1.0" encoding="utf-8"?>
<p:presentation xmlns:p="http://schemas.openxmlformats.org/presentationml/2006/main">
  <p:sldMasterIdLst>
    <p:sldMasterId xmlns:r="http://schemas.openxmlformats.org/officeDocument/2006/relationships" id="2147483648" r:id="R37cd330ac3db4308"/>
    <p:sldMasterId xmlns:r="http://schemas.openxmlformats.org/officeDocument/2006/relationships" id="2147483650" r:id="R1ca9318abf584797"/>
    <p:sldMasterId xmlns:r="http://schemas.openxmlformats.org/officeDocument/2006/relationships" id="2147483655" r:id="Re6c38f6a1fe44be4"/>
  </p:sldMasterIdLst>
  <p:notesMasterIdLst>
    <p:notesMasterId xmlns:r="http://schemas.openxmlformats.org/officeDocument/2006/relationships" r:id="R4a46bd7b05314b1e"/>
  </p:notesMasterIdLst>
  <p:sldIdLst>
    <p:sldId xmlns:r="http://schemas.openxmlformats.org/officeDocument/2006/relationships" id="256" r:id="Reab2a25f5510412d"/>
    <p:sldId xmlns:r="http://schemas.openxmlformats.org/officeDocument/2006/relationships" id="257" r:id="R84453b465ae94d0d"/>
    <p:sldId xmlns:r="http://schemas.openxmlformats.org/officeDocument/2006/relationships" id="258" r:id="Rb113b59c51474f9b"/>
    <p:sldId xmlns:r="http://schemas.openxmlformats.org/officeDocument/2006/relationships" id="259" r:id="Rad3ab0dd917c4388"/>
    <p:sldId xmlns:r="http://schemas.openxmlformats.org/officeDocument/2006/relationships" id="260" r:id="R83dea7f50d9f4200"/>
    <p:sldId xmlns:r="http://schemas.openxmlformats.org/officeDocument/2006/relationships" id="261" r:id="Rf7c9d76e0fcc49e5"/>
    <p:sldId xmlns:r="http://schemas.openxmlformats.org/officeDocument/2006/relationships" id="262" r:id="Rbb59baaec76445dc"/>
    <p:sldId xmlns:r="http://schemas.openxmlformats.org/officeDocument/2006/relationships" id="263" r:id="R37bcf8a838664a42"/>
    <p:sldId xmlns:r="http://schemas.openxmlformats.org/officeDocument/2006/relationships" id="264" r:id="R20aa5bc5cd254a49"/>
    <p:sldId xmlns:r="http://schemas.openxmlformats.org/officeDocument/2006/relationships" id="265" r:id="Rdf7a492b6f1e49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6f2ad3dbd0e43c1" /><Relationship Type="http://schemas.openxmlformats.org/officeDocument/2006/relationships/slideMaster" Target="/ppt/slideMasters/slideMaster1.xml" Id="R37cd330ac3db4308" /><Relationship Type="http://schemas.openxmlformats.org/officeDocument/2006/relationships/slideMaster" Target="/ppt/slideMasters/slideMaster2.xml" Id="R1ca9318abf584797" /><Relationship Type="http://schemas.openxmlformats.org/officeDocument/2006/relationships/slideMaster" Target="/ppt/slideMasters/slideMaster3.xml" Id="Re6c38f6a1fe44be4" /><Relationship Type="http://schemas.openxmlformats.org/officeDocument/2006/relationships/notesMaster" Target="/ppt/notesMasters/notesMaster1.xml" Id="R4a46bd7b05314b1e" /><Relationship Type="http://schemas.openxmlformats.org/officeDocument/2006/relationships/presProps" Target="/ppt/presProps.xml" Id="R492a9f5d483d4bf9" /><Relationship Type="http://schemas.openxmlformats.org/officeDocument/2006/relationships/viewProps" Target="/ppt/viewProps.xml" Id="Re86cc6e5477844cd" /><Relationship Type="http://schemas.openxmlformats.org/officeDocument/2006/relationships/tableStyles" Target="/ppt/tableStyles.xml" Id="Rb01f6111c4534fe5" /><Relationship Type="http://schemas.openxmlformats.org/officeDocument/2006/relationships/slide" Target="/ppt/slides/slide1.xml" Id="Reab2a25f5510412d" /><Relationship Type="http://schemas.openxmlformats.org/officeDocument/2006/relationships/slide" Target="/ppt/slides/slide2.xml" Id="R84453b465ae94d0d" /><Relationship Type="http://schemas.openxmlformats.org/officeDocument/2006/relationships/slide" Target="/ppt/slides/slide3.xml" Id="Rb113b59c51474f9b" /><Relationship Type="http://schemas.openxmlformats.org/officeDocument/2006/relationships/slide" Target="/ppt/slides/slide4.xml" Id="Rad3ab0dd917c4388" /><Relationship Type="http://schemas.openxmlformats.org/officeDocument/2006/relationships/slide" Target="/ppt/slides/slide5.xml" Id="R83dea7f50d9f4200" /><Relationship Type="http://schemas.openxmlformats.org/officeDocument/2006/relationships/slide" Target="/ppt/slides/slide6.xml" Id="Rf7c9d76e0fcc49e5" /><Relationship Type="http://schemas.openxmlformats.org/officeDocument/2006/relationships/slide" Target="/ppt/slides/slide7.xml" Id="Rbb59baaec76445dc" /><Relationship Type="http://schemas.openxmlformats.org/officeDocument/2006/relationships/slide" Target="/ppt/slides/slide8.xml" Id="R37bcf8a838664a42" /><Relationship Type="http://schemas.openxmlformats.org/officeDocument/2006/relationships/slide" Target="/ppt/slides/slide9.xml" Id="R20aa5bc5cd254a49" /><Relationship Type="http://schemas.openxmlformats.org/officeDocument/2006/relationships/slide" Target="/ppt/slides/slide10.xml" Id="Rdf7a492b6f1e49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cfe9d96b579949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285394dcba4219" /><Relationship Type="http://schemas.openxmlformats.org/officeDocument/2006/relationships/notesMaster" Target="/ppt/notesMasters/notesMaster1.xml" Id="R94f52103edfb41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8d2441c2a7412e" /><Relationship Type="http://schemas.openxmlformats.org/officeDocument/2006/relationships/notesMaster" Target="/ppt/notesMasters/notesMaster1.xml" Id="Ra013c3830bc143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44e9c6d81c4973" /><Relationship Type="http://schemas.openxmlformats.org/officeDocument/2006/relationships/notesMaster" Target="/ppt/notesMasters/notesMaster1.xml" Id="R3f1e391709b641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4b15bdf8df4af4" /><Relationship Type="http://schemas.openxmlformats.org/officeDocument/2006/relationships/notesMaster" Target="/ppt/notesMasters/notesMaster1.xml" Id="R4c0d3b92200b4e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e2d74190fa4dc5" /><Relationship Type="http://schemas.openxmlformats.org/officeDocument/2006/relationships/notesMaster" Target="/ppt/notesMasters/notesMaster1.xml" Id="R6f190a71eb6646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c0cf140ceb4aec" /><Relationship Type="http://schemas.openxmlformats.org/officeDocument/2006/relationships/notesMaster" Target="/ppt/notesMasters/notesMaster1.xml" Id="Rd68b50346b1d48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e9f4f8f2d046fa" /><Relationship Type="http://schemas.openxmlformats.org/officeDocument/2006/relationships/notesMaster" Target="/ppt/notesMasters/notesMaster1.xml" Id="R692629cbb61a42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05947702f8411e" /><Relationship Type="http://schemas.openxmlformats.org/officeDocument/2006/relationships/notesMaster" Target="/ppt/notesMasters/notesMaster1.xml" Id="Rc2f0f52c45b648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d867aaa8dd49cd" /><Relationship Type="http://schemas.openxmlformats.org/officeDocument/2006/relationships/notesMaster" Target="/ppt/notesMasters/notesMaster1.xml" Id="Ra95f4e4c2b6d4b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dc4b1d81754eda" /><Relationship Type="http://schemas.openxmlformats.org/officeDocument/2006/relationships/notesMaster" Target="/ppt/notesMasters/notesMaster1.xml" Id="R030b676a46aa41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 de projection accompagné du cours Word complet. Tous les fichiers Markdown ont une reprise intégrale dans les notes de leur première diapositive. Les figures source restent des images, le texte est éditable.</a:t>
            </a:r>
          </a:p>
          <a:p xmlns:a="http://schemas.openxmlformats.org/drawingml/2006/main">
            <a:r>
              <a:t>[Sources]</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[Sources]</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 de projection accompagné du cours Word complet. Tous les fichiers Markdown ont une reprise intégrale dans les notes de leur première diapositive. Les figures source restent des images, le texte est éditable.</a:t>
            </a:r>
          </a:p>
          <a:p xmlns:a="http://schemas.openxmlformats.org/drawingml/2006/main">
            <a:r>
              <a:t>[Sources]</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01. Présentation d’UML</a:t>
            </a:r>
          </a:p>
          <a:p xmlns:a="http://schemas.openxmlformats.org/drawingml/2006/main">
            <a:endParaRPr/>
          </a:p>
          <a:p xmlns:a="http://schemas.openxmlformats.org/drawingml/2006/main">
            <a:r>
              <a:t>## Historique d’UML</a:t>
            </a:r>
          </a:p>
          <a:p xmlns:a="http://schemas.openxmlformats.org/drawingml/2006/main">
            <a:endParaRPr/>
          </a:p>
          <a:p xmlns:a="http://schemas.openxmlformats.org/drawingml/2006/main">
            <a:r>
              <a:t>L'Unified Modeling Language (UML) a été conçu dans le milieu des années 1990, mais pour bien comprendre son émergence,</a:t>
            </a:r>
          </a:p>
          <a:p xmlns:a="http://schemas.openxmlformats.org/drawingml/2006/main">
            <a:r>
              <a:t>il faut considérer l'évolution du développement logiciel dès les années 1960. À cette époque, le développement logiciel</a:t>
            </a:r>
          </a:p>
          <a:p xmlns:a="http://schemas.openxmlformats.org/drawingml/2006/main">
            <a:r>
              <a:t>voit émerger des approches structurées ; le langage C apparaîtra dans les années 1970, et les premières approches de modélisation commencent à</a:t>
            </a:r>
          </a:p>
          <a:p xmlns:a="http://schemas.openxmlformats.org/drawingml/2006/main">
            <a:r>
              <a:t>apparaître dans les années 1970. Cependant, chaque méthode développée est isolée, sans standardisation, rendant</a:t>
            </a:r>
          </a:p>
          <a:p xmlns:a="http://schemas.openxmlformats.org/drawingml/2006/main">
            <a:r>
              <a:t>difficile la communication entre les différents acteurs du développement logiciel.</a:t>
            </a:r>
          </a:p>
          <a:p xmlns:a="http://schemas.openxmlformats.org/drawingml/2006/main">
            <a:endParaRPr/>
          </a:p>
          <a:p xmlns:a="http://schemas.openxmlformats.org/drawingml/2006/main">
            <a:r>
              <a:t>Dans les années 1980, avec l'essor des langages orientés objet tels que C++ et Smalltalk, la nécessité de modéliser des</a:t>
            </a:r>
          </a:p>
          <a:p xmlns:a="http://schemas.openxmlformats.org/drawingml/2006/main">
            <a:r>
              <a:t>systèmes plus complexes devient évidente. Des figures comme Grady Booch, James Rumbaugh et Ivar Jacobson développent</a:t>
            </a:r>
          </a:p>
          <a:p xmlns:a="http://schemas.openxmlformats.org/drawingml/2006/main">
            <a:r>
              <a:t>leurs propres méthodes de modélisation orientée objet — les méthodes Booch, OMT et OOSE, respectivement. Ces méthodes</a:t>
            </a:r>
          </a:p>
          <a:p xmlns:a="http://schemas.openxmlformats.org/drawingml/2006/main">
            <a:r>
              <a:t>gagnent en popularité mais leur variété crée des incompatibilités. Face à ce défi, les trois experts, souvent appelés</a:t>
            </a:r>
          </a:p>
          <a:p xmlns:a="http://schemas.openxmlformats.org/drawingml/2006/main">
            <a:r>
              <a:t>les "Trois Amigos", unissent leurs efforts chez Rational Software en 1994–1995 pour créer un langage de</a:t>
            </a:r>
          </a:p>
          <a:p xmlns:a="http://schemas.openxmlformats.org/drawingml/2006/main">
            <a:r>
              <a:t>modélisation unifié.</a:t>
            </a:r>
          </a:p>
          <a:p xmlns:a="http://schemas.openxmlformats.org/drawingml/2006/main">
            <a:endParaRPr/>
          </a:p>
          <a:p xmlns:a="http://schemas.openxmlformats.org/drawingml/2006/main">
            <a:r>
              <a:t>Le fruit de leur collaboration, UML, est présenté pour la première fois en 1996 et adopté comme standard par l'Object</a:t>
            </a:r>
          </a:p>
          <a:p xmlns:a="http://schemas.openxmlformats.org/drawingml/2006/main">
            <a:r>
              <a:t>Management Group (OMG) en 1997. Cette normalisation marque un tournant décisif, faisant d'UML le langage de modélisation</a:t>
            </a:r>
          </a:p>
          <a:p xmlns:a="http://schemas.openxmlformats.org/drawingml/2006/main">
            <a:r>
              <a:t>standard pour le développement logiciel. Depuis son adoption, UML a connu plusieurs révisions majeures, notamment UML</a:t>
            </a:r>
          </a:p>
          <a:p xmlns:a="http://schemas.openxmlformats.org/drawingml/2006/main">
            <a:r>
              <a:t>2.0 en 2005, qui a introduit des améliorations significatives pour mieux supporter les architectures</a:t>
            </a:r>
          </a:p>
          <a:p xmlns:a="http://schemas.openxmlformats.org/drawingml/2006/main">
            <a:r>
              <a:t>logicielles complexes et les nouveaux paradigmes de programmation. UML continue d'être développé et mis à jour,</a:t>
            </a:r>
          </a:p>
          <a:p xmlns:a="http://schemas.openxmlformats.org/drawingml/2006/main">
            <a:r>
              <a:t>reflétant les évolutions constantes du domaine du génie logiciel.</a:t>
            </a:r>
          </a:p>
          <a:p xmlns:a="http://schemas.openxmlformats.org/drawingml/2006/main">
            <a:endParaRPr/>
          </a:p>
          <a:p xmlns:a="http://schemas.openxmlformats.org/drawingml/2006/main">
            <a:r>
              <a:t>### Quelques repères chronologiques</a:t>
            </a:r>
          </a:p>
          <a:p xmlns:a="http://schemas.openxmlformats.org/drawingml/2006/main">
            <a:endParaRPr/>
          </a:p>
          <a:p xmlns:a="http://schemas.openxmlformats.org/drawingml/2006/main">
            <a:r>
              <a:t>Pour situer UML dans le contexte historique du développement logiciel, voici quelques repères chronologiques clés :</a:t>
            </a:r>
          </a:p>
          <a:p xmlns:a="http://schemas.openxmlformats.org/drawingml/2006/main">
            <a:endParaRPr/>
          </a:p>
          <a:p xmlns:a="http://schemas.openxmlformats.org/drawingml/2006/main">
            <a:r>
              <a:t>- **Années 1960-1970 :** Durant cette période, les fondations du génie logiciel sont posées. Les langages de</a:t>
            </a:r>
          </a:p>
          <a:p xmlns:a="http://schemas.openxmlformats.org/drawingml/2006/main">
            <a:r>
              <a:t>  programmation comme C et les méthodologies structurées commencent à émerger, mais la modélisation n'est pas encore</a:t>
            </a:r>
          </a:p>
          <a:p xmlns:a="http://schemas.openxmlformats.org/drawingml/2006/main">
            <a:r>
              <a:t>  standardisée, ce qui conduit à une variété de méthodes et d'outils disparates.</a:t>
            </a:r>
          </a:p>
          <a:p xmlns:a="http://schemas.openxmlformats.org/drawingml/2006/main">
            <a:r>
              <a:t>- **Années 1980 :** Cette décennie voit l'essor des approches orientées objet, avec des langages comme C++ et Smalltalk.</a:t>
            </a:r>
          </a:p>
          <a:p xmlns:a="http://schemas.openxmlformats.org/drawingml/2006/main">
            <a:r>
              <a:t>  Les développeurs commencent à utiliser des diagrammes pour représenter des conceptions orientées objet, mais il</a:t>
            </a:r>
          </a:p>
          <a:p xmlns:a="http://schemas.openxmlformats.org/drawingml/2006/main">
            <a:r>
              <a:t>  n’existe toujours pas de consensus ou de standard pour la modélisation.</a:t>
            </a:r>
          </a:p>
          <a:p xmlns:a="http://schemas.openxmlformats.org/drawingml/2006/main">
            <a:r>
              <a:t>- **Début des années 1990 :** Grady Booch, James Rumbaugh, et Ivar Jacobson, chacun travaillant de son côté, développent</a:t>
            </a:r>
          </a:p>
          <a:p xmlns:a="http://schemas.openxmlformats.org/drawingml/2006/main">
            <a:r>
              <a:t>  leurs propres méthodologies de modélisation (méthodes Booch, OMT de Rumbaugh, et méthode OOSE de Jacobson). Cependant,</a:t>
            </a:r>
          </a:p>
          <a:p xmlns:a="http://schemas.openxmlformats.org/drawingml/2006/main">
            <a:r>
              <a:t>  l'absence d'un langage commun entrave la communication et l'efficacité entre les équipes de développement.</a:t>
            </a:r>
          </a:p>
          <a:p xmlns:a="http://schemas.openxmlformats.org/drawingml/2006/main">
            <a:r>
              <a:t>- **1994-1995 :** Les "Trois Amigos" (Booch, Rumbaugh et Jacobson) s'associent chez Rational Software pour unifier leurs</a:t>
            </a:r>
          </a:p>
          <a:p xmlns:a="http://schemas.openxmlformats.org/drawingml/2006/main">
            <a:r>
              <a:t>  méthodes. Ils débutent la création de ce qui deviendra UML.</a:t>
            </a:r>
          </a:p>
          <a:p xmlns:a="http://schemas.openxmlformats.org/drawingml/2006/main">
            <a:r>
              <a:t>- **1996 :** Première version publique d’UML proposée. Elle commence à attirer l'attention comme un moyen potentiel de</a:t>
            </a:r>
          </a:p>
          <a:p xmlns:a="http://schemas.openxmlformats.org/drawingml/2006/main">
            <a:r>
              <a:t>  standardiser la modélisation de logiciels orientés objet.</a:t>
            </a:r>
          </a:p>
          <a:p xmlns:a="http://schemas.openxmlformats.org/drawingml/2006/main">
            <a:r>
              <a:t>- **1997 :** UML est adopté comme standard par l’Object Management Group (OMG), une organisation internationale qui</a:t>
            </a:r>
          </a:p>
          <a:p xmlns:a="http://schemas.openxmlformats.org/drawingml/2006/main">
            <a:r>
              <a:t>  promeut les standards de modélisation. Cette adoption marque un tournant, faisant d'UML le standard de facto pour la</a:t>
            </a:r>
          </a:p>
          <a:p xmlns:a="http://schemas.openxmlformats.org/drawingml/2006/main">
            <a:r>
              <a:t>  modélisation de logiciels.</a:t>
            </a:r>
          </a:p>
          <a:p xmlns:a="http://schemas.openxmlformats.org/drawingml/2006/main">
            <a:r>
              <a:t>- **2005 :** Introduction d'UML 2, qui étend et améliore les fonctionnalités du langage original pour mieux</a:t>
            </a:r>
          </a:p>
          <a:p xmlns:a="http://schemas.openxmlformats.org/drawingml/2006/main">
            <a:r>
              <a:t>  supporter les architectures logicielles complexes et les nouveaux paradigmes de programmation. UML continue d'évoluer</a:t>
            </a:r>
          </a:p>
          <a:p xmlns:a="http://schemas.openxmlformats.org/drawingml/2006/main">
            <a:r>
              <a:t>  avec de nouvelles mises à jour, intégrant des améliorations basées sur les retours de la communauté de développeurs et</a:t>
            </a:r>
          </a:p>
          <a:p xmlns:a="http://schemas.openxmlformats.org/drawingml/2006/main">
            <a:r>
              <a:t>  les besoins de l'industrie.</a:t>
            </a:r>
          </a:p>
          <a:p xmlns:a="http://schemas.openxmlformats.org/drawingml/2006/main">
            <a:endParaRPr/>
          </a:p>
          <a:p xmlns:a="http://schemas.openxmlformats.org/drawingml/2006/main">
            <a:r>
              <a:t>&gt; Mise à jour : UML 2.5.1 a été publié par l’OMG en décembre 2017. Les développements suivants décrivent l’apport historique d’UML 2.5 (2015).</a:t>
            </a:r>
          </a:p>
          <a:p xmlns:a="http://schemas.openxmlformats.org/drawingml/2006/main">
            <a:endParaRPr/>
          </a:p>
          <a:p xmlns:a="http://schemas.openxmlformats.org/drawingml/2006/main">
            <a:r>
              <a:t>### UML 2.5 : repère historique</a:t>
            </a:r>
          </a:p>
          <a:p xmlns:a="http://schemas.openxmlformats.org/drawingml/2006/main">
            <a:endParaRPr/>
          </a:p>
          <a:p xmlns:a="http://schemas.openxmlformats.org/drawingml/2006/main">
            <a:r>
              <a:t>UML 2.5 est une version du langage de modélisation unifié (Unified Modeling Language, UML) qui a été publiée par</a:t>
            </a:r>
          </a:p>
          <a:p xmlns:a="http://schemas.openxmlformats.org/drawingml/2006/main">
            <a:r>
              <a:t>l'Object Management Group (OMG) en 2015. Cette version représente une évolution incrémentielle plutôt qu'une refonte</a:t>
            </a:r>
          </a:p>
          <a:p xmlns:a="http://schemas.openxmlformats.org/drawingml/2006/main">
            <a:r>
              <a:t>majeure, avec pour objectif principal d'améliorer la précision, la clarté et la cohérence de la spécification UML sans</a:t>
            </a:r>
          </a:p>
          <a:p xmlns:a="http://schemas.openxmlformats.org/drawingml/2006/main">
            <a:r>
              <a:t>introduire de nouvelles fonctionnalités substantielles. Voici quelques aspects clés d'UML 2.5 :</a:t>
            </a:r>
          </a:p>
          <a:p xmlns:a="http://schemas.openxmlformats.org/drawingml/2006/main">
            <a:endParaRPr/>
          </a:p>
          <a:p xmlns:a="http://schemas.openxmlformats.org/drawingml/2006/main">
            <a:r>
              <a:t>#### Clarification et Simplification</a:t>
            </a:r>
          </a:p>
          <a:p xmlns:a="http://schemas.openxmlformats.org/drawingml/2006/main">
            <a:endParaRPr/>
          </a:p>
          <a:p xmlns:a="http://schemas.openxmlformats.org/drawingml/2006/main">
            <a:r>
              <a:t>UML 2.5 a cherché à clarifier et simplifier les spécifications existantes pour rendre le langage plus accessible et plus</a:t>
            </a:r>
          </a:p>
          <a:p xmlns:a="http://schemas.openxmlformats.org/drawingml/2006/main">
            <a:r>
              <a:t>facile à utiliser. Cela a inclus la révision de la documentation pour éliminer les ambiguïtés et les erreurs,</a:t>
            </a:r>
          </a:p>
          <a:p xmlns:a="http://schemas.openxmlformats.org/drawingml/2006/main">
            <a:r>
              <a:t>garantissant que les modèles créés soient plus précis et plus faciles à interpréter par les différentes parties</a:t>
            </a:r>
          </a:p>
          <a:p xmlns:a="http://schemas.openxmlformats.org/drawingml/2006/main">
            <a:r>
              <a:t>prenantes.</a:t>
            </a:r>
          </a:p>
          <a:p xmlns:a="http://schemas.openxmlformats.org/drawingml/2006/main">
            <a:endParaRPr/>
          </a:p>
          <a:p xmlns:a="http://schemas.openxmlformats.org/drawingml/2006/main">
            <a:r>
              <a:t>#### Améliorations de la Notation</a:t>
            </a:r>
          </a:p>
          <a:p xmlns:a="http://schemas.openxmlformats.org/drawingml/2006/main">
            <a:endParaRPr/>
          </a:p>
          <a:p xmlns:a="http://schemas.openxmlformats.org/drawingml/2006/main">
            <a:r>
              <a:t>Bien que UML 2.5 n'ait pas introduit de nouvelles notations, il a apporté des améliorations subtiles pour améliorer la</a:t>
            </a:r>
          </a:p>
          <a:p xmlns:a="http://schemas.openxmlformats.org/drawingml/2006/main">
            <a:r>
              <a:t>lisibilité et la cohérence des diagrammes. Ces modifications ont aidé à standardiser la façon dont les informations sont</a:t>
            </a:r>
          </a:p>
          <a:p xmlns:a="http://schemas.openxmlformats.org/drawingml/2006/main">
            <a:r>
              <a:t>présentées dans les diagrammes, facilitant ainsi la communication entre les développeurs et les autres acteurs impliqués</a:t>
            </a:r>
          </a:p>
          <a:p xmlns:a="http://schemas.openxmlformats.org/drawingml/2006/main">
            <a:r>
              <a:t>dans le processus de développement.</a:t>
            </a:r>
          </a:p>
          <a:p xmlns:a="http://schemas.openxmlformats.org/drawingml/2006/main">
            <a:endParaRPr/>
          </a:p>
          <a:p xmlns:a="http://schemas.openxmlformats.org/drawingml/2006/main">
            <a:r>
              <a:t>#### Conformité et Consistance</a:t>
            </a:r>
          </a:p>
          <a:p xmlns:a="http://schemas.openxmlformats.org/drawingml/2006/main">
            <a:endParaRPr/>
          </a:p>
          <a:p xmlns:a="http://schemas.openxmlformats.org/drawingml/2006/main">
            <a:r>
              <a:t>Une attention particulière a été accordée à la conformité et à la consistance entre les différents types de diagrammes.</a:t>
            </a:r>
          </a:p>
          <a:p xmlns:a="http://schemas.openxmlformats.org/drawingml/2006/main">
            <a:r>
              <a:t>UML 2.5 a renforcé la consistance interne du langage, assurant que les divers éléments et diagrammes travaillent</a:t>
            </a:r>
          </a:p>
          <a:p xmlns:a="http://schemas.openxmlformats.org/drawingml/2006/main">
            <a:r>
              <a:t>ensemble de manière plus harmonieuse. Cela aide les utilisateurs à mieux intégrer UML dans leurs processus de</a:t>
            </a:r>
          </a:p>
          <a:p xmlns:a="http://schemas.openxmlformats.org/drawingml/2006/main">
            <a:r>
              <a:t>développement logiciel, en particulier dans des environnements complexes et à grande échelle.</a:t>
            </a:r>
          </a:p>
          <a:p xmlns:a="http://schemas.openxmlformats.org/drawingml/2006/main">
            <a:endParaRPr/>
          </a:p>
          <a:p xmlns:a="http://schemas.openxmlformats.org/drawingml/2006/main">
            <a:r>
              <a:t>#### Impact sur les Outils de Modélisation</a:t>
            </a:r>
          </a:p>
          <a:p xmlns:a="http://schemas.openxmlformats.org/drawingml/2006/main">
            <a:endParaRPr/>
          </a:p>
          <a:p xmlns:a="http://schemas.openxmlformats.org/drawingml/2006/main">
            <a:r>
              <a:t>L'introduction d'UML 2.5 a également eu un impact sur les outils de modélisation logicielle, qui ont dû être mis à jour</a:t>
            </a:r>
          </a:p>
          <a:p xmlns:a="http://schemas.openxmlformats.org/drawingml/2006/main">
            <a:r>
              <a:t>pour supporter les améliorations et les clarifications apportées par cette version. Les fournisseurs d'outils ont adapté</a:t>
            </a:r>
          </a:p>
          <a:p xmlns:a="http://schemas.openxmlformats.org/drawingml/2006/main">
            <a:r>
              <a:t>leurs produits pour assurer la compatibilité avec UML 2.5, permettant ainsi une transition en douceur pour les</a:t>
            </a:r>
          </a:p>
          <a:p xmlns:a="http://schemas.openxmlformats.org/drawingml/2006/main">
            <a:r>
              <a:t>utilisateurs.</a:t>
            </a:r>
          </a:p>
          <a:p xmlns:a="http://schemas.openxmlformats.org/drawingml/2006/main">
            <a:endParaRPr/>
          </a:p>
          <a:p xmlns:a="http://schemas.openxmlformats.org/drawingml/2006/main">
            <a:r>
              <a:t>UML 2.5 continue de jouer un rôle crucial dans le domaine de la modélisation logicielle, facilitant la conception, la</a:t>
            </a:r>
          </a:p>
          <a:p xmlns:a="http://schemas.openxmlformats.org/drawingml/2006/main">
            <a:r>
              <a:t>visualisation, et la documentation de systèmes logiciels complexes. En raffinant et en clarifiant les spécifications,</a:t>
            </a:r>
          </a:p>
          <a:p xmlns:a="http://schemas.openxmlformats.org/drawingml/2006/main">
            <a:r>
              <a:t>UML 2.5 aide les professionnels du logiciel à créer des modèles plus précis et efficaces, renforçant ainsi l'utilité de</a:t>
            </a:r>
          </a:p>
          <a:p xmlns:a="http://schemas.openxmlformats.org/drawingml/2006/main">
            <a:r>
              <a:t>UML dans le développement logiciel moderne.</a:t>
            </a:r>
          </a:p>
          <a:p xmlns:a="http://schemas.openxmlformats.org/drawingml/2006/main">
            <a:endParaRPr/>
          </a:p>
          <a:p xmlns:a="http://schemas.openxmlformats.org/drawingml/2006/main">
            <a:r>
              <a:t>## Importance de l'UML dans le développement logiciel</a:t>
            </a:r>
          </a:p>
          <a:p xmlns:a="http://schemas.openxmlformats.org/drawingml/2006/main">
            <a:endParaRPr/>
          </a:p>
          <a:p xmlns:a="http://schemas.openxmlformats.org/drawingml/2006/main">
            <a:r>
              <a:t>### Vue Technique</a:t>
            </a:r>
          </a:p>
          <a:p xmlns:a="http://schemas.openxmlformats.org/drawingml/2006/main">
            <a:endParaRPr/>
          </a:p>
          <a:p xmlns:a="http://schemas.openxmlformats.org/drawingml/2006/main">
            <a:r>
              <a:t>Du point de vue technique, UML (Unified Modeling Language) offre un cadre structuré pour visualiser et concevoir des</a:t>
            </a:r>
          </a:p>
          <a:p xmlns:a="http://schemas.openxmlformats.org/drawingml/2006/main">
            <a:r>
              <a:t>systèmes logiciels complexes. Cette standardisation permet aux développeurs de créer des modèles détaillés qui</a:t>
            </a:r>
          </a:p>
          <a:p xmlns:a="http://schemas.openxmlformats.org/drawingml/2006/main">
            <a:r>
              <a:t>représentent non seulement les fonctionnalités du système, mais également les interactions et les dépendances entre ses</a:t>
            </a:r>
          </a:p>
          <a:p xmlns:a="http://schemas.openxmlformats.org/drawingml/2006/main">
            <a:r>
              <a:t>différentes composantes. Par exemple, les diagrammes de classes en UML fournissent une vue claire de la structure objet</a:t>
            </a:r>
          </a:p>
          <a:p xmlns:a="http://schemas.openxmlformats.org/drawingml/2006/main">
            <a:r>
              <a:t>du logiciel, montrant les classes, leurs attributs, méthodes, et les relations comme l'héritage et les associations.</a:t>
            </a:r>
          </a:p>
          <a:p xmlns:a="http://schemas.openxmlformats.org/drawingml/2006/main">
            <a:r>
              <a:t>Cette visualisation aide les développeurs à identifier les redondances et les optimisations possibles, facilitant ainsi</a:t>
            </a:r>
          </a:p>
          <a:p xmlns:a="http://schemas.openxmlformats.org/drawingml/2006/main">
            <a:r>
              <a:t>une architecture plus robuste et maintenable.</a:t>
            </a:r>
          </a:p>
          <a:p xmlns:a="http://schemas.openxmlformats.org/drawingml/2006/main">
            <a:endParaRPr/>
          </a:p>
          <a:p xmlns:a="http://schemas.openxmlformats.org/drawingml/2006/main">
            <a:r>
              <a:t>### Parties Prenantes</a:t>
            </a:r>
          </a:p>
          <a:p xmlns:a="http://schemas.openxmlformats.org/drawingml/2006/main">
            <a:endParaRPr/>
          </a:p>
          <a:p xmlns:a="http://schemas.openxmlformats.org/drawingml/2006/main">
            <a:r>
              <a:t>Pour les parties prenantes non techniques, telles que les gestionnaires de projet et les clients, UML sert d'outil de</a:t>
            </a:r>
          </a:p>
          <a:p xmlns:a="http://schemas.openxmlformats.org/drawingml/2006/main">
            <a:r>
              <a:t>communication crucial. Les diagrammes UML, tels que les diagrammes de cas d'utilisation, permettent de présenter</a:t>
            </a:r>
          </a:p>
          <a:p xmlns:a="http://schemas.openxmlformats.org/drawingml/2006/main">
            <a:r>
              <a:t>clairement les fonctionnalités du système d'une manière compréhensible. Ceux-ci démontrent comment les différents</a:t>
            </a:r>
          </a:p>
          <a:p xmlns:a="http://schemas.openxmlformats.org/drawingml/2006/main">
            <a:r>
              <a:t>utilisateurs (acteurs) interagiront avec le système, ce qui peut être essentiel lors de la définition des exigences et</a:t>
            </a:r>
          </a:p>
          <a:p xmlns:a="http://schemas.openxmlformats.org/drawingml/2006/main">
            <a:r>
              <a:t>des attentes. En transformant des concepts techniques en visualisations graphiques, UML facilite les discussions et la</a:t>
            </a:r>
          </a:p>
          <a:p xmlns:a="http://schemas.openxmlformats.org/drawingml/2006/main">
            <a:r>
              <a:t>prise de décision au sein des équipes multidisciplinaires, assurant que tous les membres comprennent le produit final</a:t>
            </a:r>
          </a:p>
          <a:p xmlns:a="http://schemas.openxmlformats.org/drawingml/2006/main">
            <a:r>
              <a:t>envisagé.</a:t>
            </a:r>
          </a:p>
          <a:p xmlns:a="http://schemas.openxmlformats.org/drawingml/2006/main">
            <a:endParaRPr/>
          </a:p>
          <a:p xmlns:a="http://schemas.openxmlformats.org/drawingml/2006/main">
            <a:r>
              <a:t>### Documentation Technique</a:t>
            </a:r>
          </a:p>
          <a:p xmlns:a="http://schemas.openxmlformats.org/drawingml/2006/main">
            <a:endParaRPr/>
          </a:p>
          <a:p xmlns:a="http://schemas.openxmlformats.org/drawingml/2006/main">
            <a:r>
              <a:t>La documentation technique est une autre pierre angulaire du développement logiciel où UML prouve son utilité. Les</a:t>
            </a:r>
          </a:p>
          <a:p xmlns:a="http://schemas.openxmlformats.org/drawingml/2006/main">
            <a:r>
              <a:t>diagrammes UML créent un référentiel de connaissance qui peut être utilisé tout au long du cycle de vie du développement</a:t>
            </a:r>
          </a:p>
          <a:p xmlns:a="http://schemas.openxmlformats.org/drawingml/2006/main">
            <a:r>
              <a:t>logiciel, de la conception à la maintenance. Les diagrammes d'activité et de séquence, par exemple, détaillent le flux</a:t>
            </a:r>
          </a:p>
          <a:p xmlns:a="http://schemas.openxmlformats.org/drawingml/2006/main">
            <a:r>
              <a:t>de processus et les interactions système à système, ce qui est crucial pour les nouvelles recrues et les équipes de</a:t>
            </a:r>
          </a:p>
          <a:p xmlns:a="http://schemas.openxmlformats.org/drawingml/2006/main">
            <a:r>
              <a:t>maintenance pour comprendre rapidement comment le système fonctionne. Cela contribue à une meilleure gestion du code</a:t>
            </a:r>
          </a:p>
          <a:p xmlns:a="http://schemas.openxmlformats.org/drawingml/2006/main">
            <a:r>
              <a:t>existant et à l'intégration de nouvelles fonctionnalités sans perturber les fonctionnalités existantes.</a:t>
            </a:r>
          </a:p>
          <a:p xmlns:a="http://schemas.openxmlformats.org/drawingml/2006/main">
            <a:endParaRPr/>
          </a:p>
          <a:p xmlns:a="http://schemas.openxmlformats.org/drawingml/2006/main">
            <a:r>
              <a:t>### Conception</a:t>
            </a:r>
          </a:p>
          <a:p xmlns:a="http://schemas.openxmlformats.org/drawingml/2006/main">
            <a:endParaRPr/>
          </a:p>
          <a:p xmlns:a="http://schemas.openxmlformats.org/drawingml/2006/main">
            <a:r>
              <a:t>Sur le plan de la conception, UML permet aux architectes logiciels de prévisualiser les effets de leurs décisions de</a:t>
            </a:r>
          </a:p>
          <a:p xmlns:a="http://schemas.openxmlformats.org/drawingml/2006/main">
            <a:r>
              <a:t>conception avant la mise en œuvre. En utilisant des diagrammes de composants et de déploiement, par exemple, ils peuvent</a:t>
            </a:r>
          </a:p>
          <a:p xmlns:a="http://schemas.openxmlformats.org/drawingml/2006/main">
            <a:r>
              <a:t>planifier comment les différentes parties du système s'intégreront sur différents matériels ou réseaux. Cette</a:t>
            </a:r>
          </a:p>
          <a:p xmlns:a="http://schemas.openxmlformats.org/drawingml/2006/main">
            <a:r>
              <a:t>planification aide à anticiper les problèmes potentiels, comme les goulets d'étranglement de performance ou les</a:t>
            </a:r>
          </a:p>
          <a:p xmlns:a="http://schemas.openxmlformats.org/drawingml/2006/main">
            <a:r>
              <a:t>problèmes de communication entre composants distribués, avant qu'ils ne deviennent critiques.</a:t>
            </a:r>
          </a:p>
          <a:p xmlns:a="http://schemas.openxmlformats.org/drawingml/2006/main">
            <a:endParaRPr/>
          </a:p>
          <a:p xmlns:a="http://schemas.openxmlformats.org/drawingml/2006/main">
            <a:r>
              <a:t>### Exemples d'Application Concrètes et Historiques</a:t>
            </a:r>
          </a:p>
          <a:p xmlns:a="http://schemas.openxmlformats.org/drawingml/2006/main">
            <a:endParaRPr/>
          </a:p>
          <a:p xmlns:a="http://schemas.openxmlformats.org/drawingml/2006/main">
            <a:r>
              <a:t>Historiquement, UML a été utilisé dans des projets logiciels de grande envergure, tels que dans le développement de</a:t>
            </a:r>
          </a:p>
          <a:p xmlns:a="http://schemas.openxmlformats.org/drawingml/2006/main">
            <a:r>
              <a:t>systèmes de télécommunications ou de logiciels embarqués dans l'automobile et l'aéronautique. Par exemple, dans le</a:t>
            </a:r>
          </a:p>
          <a:p xmlns:a="http://schemas.openxmlformats.org/drawingml/2006/main">
            <a:r>
              <a:t>développement d'un système de contrôle de trafic aérien, UML a été employé pour modéliser les interactions complexes</a:t>
            </a:r>
          </a:p>
          <a:p xmlns:a="http://schemas.openxmlformats.org/drawingml/2006/main">
            <a:r>
              <a:t>entre les avions, les tours de contrôle, et les systèmes de navigation terrestre. En fournissant une méthode</a:t>
            </a:r>
          </a:p>
          <a:p xmlns:a="http://schemas.openxmlformats.org/drawingml/2006/main">
            <a:r>
              <a:t>standardisée pour la modélisation de ces interactions, UML aide à assurer la fiabilité et la sécurité critiques de tels</a:t>
            </a:r>
          </a:p>
          <a:p xmlns:a="http://schemas.openxmlformats.org/drawingml/2006/main">
            <a:r>
              <a:t>systèmes.</a:t>
            </a:r>
          </a:p>
          <a:p xmlns:a="http://schemas.openxmlformats.org/drawingml/2006/main">
            <a:endParaRPr/>
          </a:p>
          <a:p xmlns:a="http://schemas.openxmlformats.org/drawingml/2006/main">
            <a:r>
              <a:t>En somme, l'importance d'UML dans le développement logiciel est manifeste à travers son adoption généralisée pour la</a:t>
            </a:r>
          </a:p>
          <a:p xmlns:a="http://schemas.openxmlformats.org/drawingml/2006/main">
            <a:r>
              <a:t>modélisation, la conception, et la documentation dans une multitude de domaines appliqués. Sa capacité à unifier les</a:t>
            </a:r>
          </a:p>
          <a:p xmlns:a="http://schemas.openxmlformats.org/drawingml/2006/main">
            <a:r>
              <a:t>perspectives techniques et non techniques en fait un outil indispensable dans la boîte à outils de tout développeur de</a:t>
            </a:r>
          </a:p>
          <a:p xmlns:a="http://schemas.openxmlformats.org/drawingml/2006/main">
            <a:r>
              <a:t>logiciels modernes.</a:t>
            </a:r>
          </a:p>
          <a:p xmlns:a="http://schemas.openxmlformats.org/drawingml/2006/main">
            <a:endParaRPr/>
          </a:p>
          <a:p xmlns:a="http://schemas.openxmlformats.org/drawingml/2006/main">
            <a:r>
              <a:t>## Les types de diagrammes UML</a:t>
            </a:r>
          </a:p>
          <a:p xmlns:a="http://schemas.openxmlformats.org/drawingml/2006/main">
            <a:endParaRPr/>
          </a:p>
          <a:p xmlns:a="http://schemas.openxmlformats.org/drawingml/2006/main">
            <a:r>
              <a:t>![01-hierarchy.png](../images/01-hierarchy.png)</a:t>
            </a:r>
          </a:p>
          <a:p xmlns:a="http://schemas.openxmlformats.org/drawingml/2006/main">
            <a:endParaRPr/>
          </a:p>
          <a:p xmlns:a="http://schemas.openxmlformats.org/drawingml/2006/main">
            <a:r>
              <a:t>Les diagrammes UML sont divisés en deux grandes catégories, chacune ciblant différents aspects de la modélisation des</a:t>
            </a:r>
          </a:p>
          <a:p xmlns:a="http://schemas.openxmlformats.org/drawingml/2006/main">
            <a:r>
              <a:t>systèmes logiciels : les diagrammes comportementaux et les diagrammes structurels. Voici une liste exhaustive de ces</a:t>
            </a:r>
          </a:p>
          <a:p xmlns:a="http://schemas.openxmlformats.org/drawingml/2006/main">
            <a:r>
              <a:t>diagrammes, accompagnée de descriptions détaillées et de leurs utilisations dans le cycle de développement logiciel.</a:t>
            </a:r>
          </a:p>
          <a:p xmlns:a="http://schemas.openxmlformats.org/drawingml/2006/main">
            <a:endParaRPr/>
          </a:p>
          <a:p xmlns:a="http://schemas.openxmlformats.org/drawingml/2006/main">
            <a:r>
              <a:t>### Les diagrammes Comportementaux</a:t>
            </a:r>
          </a:p>
          <a:p xmlns:a="http://schemas.openxmlformats.org/drawingml/2006/main">
            <a:endParaRPr/>
          </a:p>
          <a:p xmlns:a="http://schemas.openxmlformats.org/drawingml/2006/main">
            <a:r>
              <a:t>Ces diagrammes sont utilisés pour modéliser le comportement et les aspects dynamiques des systèmes.</a:t>
            </a:r>
          </a:p>
          <a:p xmlns:a="http://schemas.openxmlformats.org/drawingml/2006/main">
            <a:endParaRPr/>
          </a:p>
          <a:p xmlns:a="http://schemas.openxmlformats.org/drawingml/2006/main">
            <a:r>
              <a:t>- **Diagrammes de cas d'utilisation :**  </a:t>
            </a:r>
          </a:p>
          <a:p xmlns:a="http://schemas.openxmlformats.org/drawingml/2006/main">
            <a:r>
              <a:t>  Ils décrivent les interactions entre les utilisateurs (ou acteurs) et le système, pour identifier les fonctionnalités</a:t>
            </a:r>
          </a:p>
          <a:p xmlns:a="http://schemas.openxmlformats.org/drawingml/2006/main">
            <a:r>
              <a:t>  que le système doit fournir. Utilisés dès les premières étapes du développement, ils aident à capturer les exigences</a:t>
            </a:r>
          </a:p>
          <a:p xmlns:a="http://schemas.openxmlformats.org/drawingml/2006/main">
            <a:r>
              <a:t>  du système et à communiquer ces exigences entre les développeurs et les parties prenantes.</a:t>
            </a:r>
          </a:p>
          <a:p xmlns:a="http://schemas.openxmlformats.org/drawingml/2006/main">
            <a:r>
              <a:t>- **Diagrammes de séquence :**  </a:t>
            </a:r>
          </a:p>
          <a:p xmlns:a="http://schemas.openxmlformats.org/drawingml/2006/main">
            <a:r>
              <a:t>  Ils montrent comment les objets interagissent entre eux en termes de séquence temporelle. Très utiles pour la</a:t>
            </a:r>
          </a:p>
          <a:p xmlns:a="http://schemas.openxmlformats.org/drawingml/2006/main">
            <a:r>
              <a:t>  planification et la visualisation de la logistique des processus complexes, ils sont cruciaux lors de la phase de</a:t>
            </a:r>
          </a:p>
          <a:p xmlns:a="http://schemas.openxmlformats.org/drawingml/2006/main">
            <a:r>
              <a:t>  conception détaillée pour garantir que tous les éléments interagissent harmonieusement.</a:t>
            </a:r>
          </a:p>
          <a:p xmlns:a="http://schemas.openxmlformats.org/drawingml/2006/main">
            <a:r>
              <a:t>- **Diagrammes d'activité :**  </a:t>
            </a:r>
          </a:p>
          <a:p xmlns:a="http://schemas.openxmlformats.org/drawingml/2006/main">
            <a:r>
              <a:t>  Ces diagrammes sont similaires aux diagrammes de flux de processus et sont utilisés pour modéliser le flux de contrôle</a:t>
            </a:r>
          </a:p>
          <a:p xmlns:a="http://schemas.openxmlformats.org/drawingml/2006/main">
            <a:r>
              <a:t>  d'une activité à l'autre. Ils sont particulièrement utiles pour modéliser les aspects procéduraux d'un système, comme</a:t>
            </a:r>
          </a:p>
          <a:p xmlns:a="http://schemas.openxmlformats.org/drawingml/2006/main">
            <a:r>
              <a:t>  les algorithmes ou les flux de travail, et sont souvent employés lors de la modélisation de cas d'utilisation.</a:t>
            </a:r>
          </a:p>
          <a:p xmlns:a="http://schemas.openxmlformats.org/drawingml/2006/main">
            <a:r>
              <a:t>- **Diagrammes d'états-transition :**  </a:t>
            </a:r>
          </a:p>
          <a:p xmlns:a="http://schemas.openxmlformats.org/drawingml/2006/main">
            <a:r>
              <a:t>  Aussi appelés diagrammes d'états, ils décrivent les changements d'état d'un objet en réponse à des événements</a:t>
            </a:r>
          </a:p>
          <a:p xmlns:a="http://schemas.openxmlformats.org/drawingml/2006/main">
            <a:r>
              <a:t>  externes. Ils sont essentiels pour les développeurs qui travaillent sur des systèmes où les objets doivent changer</a:t>
            </a:r>
          </a:p>
          <a:p xmlns:a="http://schemas.openxmlformats.org/drawingml/2006/main">
            <a:r>
              <a:t>  d'état de manière claire et prévisible, comme dans les systèmes embarqués ou les applications en temps réel.</a:t>
            </a:r>
          </a:p>
          <a:p xmlns:a="http://schemas.openxmlformats.org/drawingml/2006/main">
            <a:r>
              <a:t>- **Diagrammes de timing :**  </a:t>
            </a:r>
          </a:p>
          <a:p xmlns:a="http://schemas.openxmlformats.org/drawingml/2006/main">
            <a:r>
              <a:t>  Ces diagrammes représentent les changements d'état ou les conditions d'un objet au fil du temps. Ils sont utiles dans</a:t>
            </a:r>
          </a:p>
          <a:p xmlns:a="http://schemas.openxmlformats.org/drawingml/2006/main">
            <a:r>
              <a:t>  le développement de systèmes embarqués et en temps réel où la compréhension des contraintes temporelles est critique.</a:t>
            </a:r>
          </a:p>
          <a:p xmlns:a="http://schemas.openxmlformats.org/drawingml/2006/main">
            <a:r>
              <a:t>- **Diagrammes de communication (auparavant nommés collaboration) :**  </a:t>
            </a:r>
          </a:p>
          <a:p xmlns:a="http://schemas.openxmlformats.org/drawingml/2006/main">
            <a:r>
              <a:t>  Ils mettent en évidence les interactions entre les objets en fonction de leurs liens et de leur organisation, montrant</a:t>
            </a:r>
          </a:p>
          <a:p xmlns:a="http://schemas.openxmlformats.org/drawingml/2006/main">
            <a:r>
              <a:t>  la collaboration de plusieurs objets pour réaliser une fonctionnalité. Ce sont des outils précieux lors de la phase de</a:t>
            </a:r>
          </a:p>
          <a:p xmlns:a="http://schemas.openxmlformats.org/drawingml/2006/main">
            <a:r>
              <a:t>  conception pour assurer que tous les composants du système fonctionnent ensemble de manière cohérente.</a:t>
            </a:r>
          </a:p>
          <a:p xmlns:a="http://schemas.openxmlformats.org/drawingml/2006/main">
            <a:r>
              <a:t>- **Diagrammes d'interaction générale :**  </a:t>
            </a:r>
          </a:p>
          <a:p xmlns:a="http://schemas.openxmlformats.org/drawingml/2006/main">
            <a:r>
              <a:t>  Ils englobent les diagrammes de séquence, de communication et de timing pour montrer des interactions complexes à</a:t>
            </a:r>
          </a:p>
          <a:p xmlns:a="http://schemas.openxmlformats.org/drawingml/2006/main">
            <a:r>
              <a:t>  travers plusieurs vues ou à plusieurs niveaux.</a:t>
            </a:r>
          </a:p>
          <a:p xmlns:a="http://schemas.openxmlformats.org/drawingml/2006/main">
            <a:endParaRPr/>
          </a:p>
          <a:p xmlns:a="http://schemas.openxmlformats.org/drawingml/2006/main">
            <a:r>
              <a:t>### Les diagrammes Structurels</a:t>
            </a:r>
          </a:p>
          <a:p xmlns:a="http://schemas.openxmlformats.org/drawingml/2006/main">
            <a:endParaRPr/>
          </a:p>
          <a:p xmlns:a="http://schemas.openxmlformats.org/drawingml/2006/main">
            <a:r>
              <a:t>Ces diagrammes se concentrent sur les éléments statiques du système logiciel.</a:t>
            </a:r>
          </a:p>
          <a:p xmlns:a="http://schemas.openxmlformats.org/drawingml/2006/main">
            <a:endParaRPr/>
          </a:p>
          <a:p xmlns:a="http://schemas.openxmlformats.org/drawingml/2006/main">
            <a:r>
              <a:t>- **Diagrammes de classes :**  </a:t>
            </a:r>
          </a:p>
          <a:p xmlns:a="http://schemas.openxmlformats.org/drawingml/2006/main">
            <a:r>
              <a:t>  Ils décrivent les classes et les interfaces, leurs rôles dans le système, et leurs relations comme l'héritage et les</a:t>
            </a:r>
          </a:p>
          <a:p xmlns:a="http://schemas.openxmlformats.org/drawingml/2006/main">
            <a:r>
              <a:t>  associations. Essentiels tout au long du processus de développement, ils sont particulièrement critiques lors de la</a:t>
            </a:r>
          </a:p>
          <a:p xmlns:a="http://schemas.openxmlformats.org/drawingml/2006/main">
            <a:r>
              <a:t>  conception et de l'implémentation pour structurer correctement le logiciel.</a:t>
            </a:r>
          </a:p>
          <a:p xmlns:a="http://schemas.openxmlformats.org/drawingml/2006/main">
            <a:r>
              <a:t>- **Diagrammes d'objets :**  </a:t>
            </a:r>
          </a:p>
          <a:p xmlns:a="http://schemas.openxmlformats.org/drawingml/2006/main">
            <a:r>
              <a:t>  Variantes des diagrammes de classes, ces diagrammes représentent des instances de classes à un moment donné. Utilisés</a:t>
            </a:r>
          </a:p>
          <a:p xmlns:a="http://schemas.openxmlformats.org/drawingml/2006/main">
            <a:r>
              <a:t>  principalement pour expliquer des situations complexes à travers des exemples concrets.</a:t>
            </a:r>
          </a:p>
          <a:p xmlns:a="http://schemas.openxmlformats.org/drawingml/2006/main">
            <a:r>
              <a:t>- **Diagrammes de composants :**  </a:t>
            </a:r>
          </a:p>
          <a:p xmlns:a="http://schemas.openxmlformats.org/drawingml/2006/main">
            <a:r>
              <a:t>  Ils montrent l'organisation et les dépendances entre les composants logiciels, utiles pour planifier l'architecture</a:t>
            </a:r>
          </a:p>
          <a:p xmlns:a="http://schemas.openxmlformats.org/drawingml/2006/main">
            <a:r>
              <a:t>  physique du système et pour gérer la complexité lors de la mise en œuvre.</a:t>
            </a:r>
          </a:p>
          <a:p xmlns:a="http://schemas.openxmlformats.org/drawingml/2006/main">
            <a:r>
              <a:t>- **Diagrammes de déploiement :**  </a:t>
            </a:r>
          </a:p>
          <a:p xmlns:a="http://schemas.openxmlformats.org/drawingml/2006/main">
            <a:r>
              <a:t>  Ils décrivent l'architecture physique et la distribution des artefacts logiciels sur l'infrastructure matérielle. Ces</a:t>
            </a:r>
          </a:p>
          <a:p xmlns:a="http://schemas.openxmlformats.org/drawingml/2006/main">
            <a:r>
              <a:t>  diagrammes sont cruciaux pour comprendre comment le logiciel fonctionnera dans différents environnements.</a:t>
            </a:r>
          </a:p>
          <a:p xmlns:a="http://schemas.openxmlformats.org/drawingml/2006/main">
            <a:r>
              <a:t>- **Diagrammes de paquets :**  </a:t>
            </a:r>
          </a:p>
          <a:p xmlns:a="http://schemas.openxmlformats.org/drawingml/2006/main">
            <a:r>
              <a:t>  Utilisés pour regrouper des éléments similaires et fournir une encapsulation et une organisation du modèle UML. Ils</a:t>
            </a:r>
          </a:p>
          <a:p xmlns:a="http://schemas.openxmlformats.org/drawingml/2006/main">
            <a:r>
              <a:t>  aident à gérer la complexité dans les grands systèmes.</a:t>
            </a:r>
          </a:p>
          <a:p xmlns:a="http://schemas.openxmlformats.org/drawingml/2006/main">
            <a:r>
              <a:t>- **Diagrammes de structure composite :**  </a:t>
            </a:r>
          </a:p>
          <a:p xmlns:a="http://schemas.openxmlformats.org/drawingml/2006/main">
            <a:r>
              <a:t>  Ils décrivent la structure interne des classes et des composants, montrant l'interaction entre les parties internes</a:t>
            </a:r>
          </a:p>
          <a:p xmlns:a="http://schemas.openxmlformats.org/drawingml/2006/main">
            <a:r>
              <a:t>  pour former des ensembles fonctionnels.</a:t>
            </a:r>
          </a:p>
          <a:p xmlns:a="http://schemas.openxmlformats.org/drawingml/2006/main">
            <a:r>
              <a:t>- **Diagrammes de profils :**  </a:t>
            </a:r>
          </a:p>
          <a:p xmlns:a="http://schemas.openxmlformats.org/drawingml/2006/main">
            <a:r>
              <a:t>  Ils définissent des contraintes et des extensions pour personnaliser les modèles UML standards pour des domaines</a:t>
            </a:r>
          </a:p>
          <a:p xmlns:a="http://schemas.openxmlformats.org/drawingml/2006/main">
            <a:r>
              <a:t>  spécifiques.</a:t>
            </a:r>
          </a:p>
          <a:p xmlns:a="http://schemas.openxmlformats.org/drawingml/2006/main">
            <a:endParaRPr/>
          </a:p>
          <a:p xmlns:a="http://schemas.openxmlformats.org/drawingml/2006/main">
            <a:endParaRPr/>
          </a:p>
          <a:p xmlns:a="http://schemas.openxmlformats.org/drawingml/2006/main">
            <a:endParaRP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14 types de diagrammes UML</a:t>
            </a:r>
          </a:p>
          <a:p xmlns:a="http://schemas.openxmlformats.org/drawingml/2006/main">
            <a:r>
              <a:t>Diagramme homogénéisé : diagrammes/01-hierarchy.svg ; source éditable : diagrammes/01-hierarchy.dot.</a:t>
            </a:r>
          </a:p>
          <a:p xmlns:a="http://schemas.openxmlformats.org/drawingml/2006/main">
            <a:r>
              <a:t>Règle du cas commande : préparation et paiement avancent en parallèle ; la livraison attend les deux. Les vues sont des projections du même modèle, pas des modèles exhaustifs de production.</a:t>
            </a:r>
          </a:p>
          <a:p xmlns:a="http://schemas.openxmlformats.org/drawingml/2006/main">
            <a:r>
              <a:t>[Sources]</a:t>
            </a:r>
          </a:p>
          <a:p xmlns:a="http://schemas.openxmlformats.org/drawingml/2006/main">
            <a:r>
              <a:t>Cours UML fourni par l’auteur : cours_methodologie-main.zip / 01 - UML.</a:t>
            </a:r>
          </a:p>
          <a:p xmlns:a="http://schemas.openxmlformats.org/drawingml/2006/main">
            <a:r>
              <a:t>https://www.omg.org/spec/UML/2.5.1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[Sources]</a:t>
            </a:r>
          </a:p>
          <a:p xmlns:a="http://schemas.openxmlformats.org/drawingml/2006/main">
            <a:r>
              <a:t>cours_methodologie-main.zip / Semaine 1 - UML - Merise / 01 - UML / Cours/Annexe 01 - Notions avancées de POO.md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Cas d'Utilisation - Exercice : Plateforme de Gestion d'Événements pour Entreprises</a:t>
            </a:r>
          </a:p>
          <a:p xmlns:a="http://schemas.openxmlformats.org/drawingml/2006/main">
            <a:endParaRPr/>
          </a:p>
          <a:p xmlns:a="http://schemas.openxmlformats.org/drawingml/2006/main">
            <a:r>
              <a:t>## Contexte :</a:t>
            </a:r>
          </a:p>
          <a:p xmlns:a="http://schemas.openxmlformats.org/drawingml/2006/main">
            <a:r>
              <a:t>Une entreprise spécialisée dans l'organisation d'événements corporatifs souhaite développer une plateforme en ligne permettant à ses clients de gérer l'ensemble du processus d'organisation d'événements, de la planification à l'exécution. Cette plateforme doit être capable de gérer différents types d'événements tels que les conférences, les séminaires, les retraites d'entreprise et les fêtes de fin d'année.</a:t>
            </a:r>
          </a:p>
          <a:p xmlns:a="http://schemas.openxmlformats.org/drawingml/2006/main">
            <a:endParaRPr/>
          </a:p>
          <a:p xmlns:a="http://schemas.openxmlformats.org/drawingml/2006/main">
            <a:r>
              <a:t>## Objectifs de la plateforme :</a:t>
            </a:r>
          </a:p>
          <a:p xmlns:a="http://schemas.openxmlformats.org/drawingml/2006/main">
            <a:r>
              <a:t>- Faciliter la planification et la coordination des événements pour les entreprises.</a:t>
            </a:r>
          </a:p>
          <a:p xmlns:a="http://schemas.openxmlformats.org/drawingml/2006/main">
            <a:r>
              <a:t>- Offrir une expérience personnalisée aux clients en fonction de leurs besoins spécifiques.</a:t>
            </a:r>
          </a:p>
          <a:p xmlns:a="http://schemas.openxmlformats.org/drawingml/2006/main">
            <a:r>
              <a:t>- Intégrer des outils de communication et de collaboration pour les équipes d'organisation.</a:t>
            </a:r>
          </a:p>
          <a:p xmlns:a="http://schemas.openxmlformats.org/drawingml/2006/main">
            <a:r>
              <a:t>- Fournir des rapports détaillés et des analyses après l'événement pour évaluer le succès et les domaines d'amélioration.</a:t>
            </a:r>
          </a:p>
          <a:p xmlns:a="http://schemas.openxmlformats.org/drawingml/2006/main">
            <a:endParaRPr/>
          </a:p>
          <a:p xmlns:a="http://schemas.openxmlformats.org/drawingml/2006/main">
            <a:r>
              <a:t>## Travail demandé :</a:t>
            </a:r>
          </a:p>
          <a:p xmlns:a="http://schemas.openxmlformats.org/drawingml/2006/main">
            <a:r>
              <a:t>1. Définir les acteurs internes et externes de l'application</a:t>
            </a:r>
          </a:p>
          <a:p xmlns:a="http://schemas.openxmlformats.org/drawingml/2006/main">
            <a:r>
              <a:t>2. Définir les fonctionnalités clés</a:t>
            </a:r>
          </a:p>
          <a:p xmlns:a="http://schemas.openxmlformats.org/drawingml/2006/main">
            <a:r>
              <a:t>3. Construire un diagramme de cas d'utilisation</a:t>
            </a:r>
          </a:p>
          <a:p xmlns:a="http://schemas.openxmlformats.org/drawingml/2006/main">
            <a:endParaRP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Exercices/Énoncé/02 - Cas d'Utilisation - Exercice 1.md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01. Présentation d’UML</a:t>
            </a:r>
          </a:p>
          <a:p xmlns:a="http://schemas.openxmlformats.org/drawingml/2006/main">
            <a:endParaRPr/>
          </a:p>
          <a:p xmlns:a="http://schemas.openxmlformats.org/drawingml/2006/main">
            <a:r>
              <a:t>## Historique d’UML</a:t>
            </a:r>
          </a:p>
          <a:p xmlns:a="http://schemas.openxmlformats.org/drawingml/2006/main">
            <a:endParaRPr/>
          </a:p>
          <a:p xmlns:a="http://schemas.openxmlformats.org/drawingml/2006/main">
            <a:r>
              <a:t>L'Unified Modeling Language (UML) a été conçu dans le milieu des années 1990, mais pour bien comprendre son émergence,</a:t>
            </a:r>
          </a:p>
          <a:p xmlns:a="http://schemas.openxmlformats.org/drawingml/2006/main">
            <a:r>
              <a:t>il faut considérer l'évolution du développement logiciel dès les années 1960. À cette époque, le développement logiciel</a:t>
            </a:r>
          </a:p>
          <a:p xmlns:a="http://schemas.openxmlformats.org/drawingml/2006/main">
            <a:r>
              <a:t>voit émerger des approches structurées ; le langage C apparaîtra dans les années 1970, et les premières approches de modélisation commencent à</a:t>
            </a:r>
          </a:p>
          <a:p xmlns:a="http://schemas.openxmlformats.org/drawingml/2006/main">
            <a:r>
              <a:t>apparaître dans les années 1970. Cependant, chaque méthode développée est isolée, sans standardisation, rendant</a:t>
            </a:r>
          </a:p>
          <a:p xmlns:a="http://schemas.openxmlformats.org/drawingml/2006/main">
            <a:r>
              <a:t>difficile la communication entre les différents acteurs du développement logiciel.</a:t>
            </a:r>
          </a:p>
          <a:p xmlns:a="http://schemas.openxmlformats.org/drawingml/2006/main">
            <a:endParaRPr/>
          </a:p>
          <a:p xmlns:a="http://schemas.openxmlformats.org/drawingml/2006/main">
            <a:r>
              <a:t>Dans les années 1980, avec l'essor des langages orientés objet tels que C++ et Smalltalk, la nécessité de modéliser des</a:t>
            </a:r>
          </a:p>
          <a:p xmlns:a="http://schemas.openxmlformats.org/drawingml/2006/main">
            <a:r>
              <a:t>systèmes plus complexes devient évidente. Des figures comme Grady Booch, James Rumbaugh et Ivar Jacobson développent</a:t>
            </a:r>
          </a:p>
          <a:p xmlns:a="http://schemas.openxmlformats.org/drawingml/2006/main">
            <a:r>
              <a:t>leurs propres méthodes de modélisation orientée objet — les méthodes Booch, OMT et OOSE, respectivement. Ces méthodes</a:t>
            </a:r>
          </a:p>
          <a:p xmlns:a="http://schemas.openxmlformats.org/drawingml/2006/main">
            <a:r>
              <a:t>gagnent en popularité mais leur variété crée des incompatibilités. Face à ce défi, les trois experts, souvent appelés</a:t>
            </a:r>
          </a:p>
          <a:p xmlns:a="http://schemas.openxmlformats.org/drawingml/2006/main">
            <a:r>
              <a:t>les "Trois Amigos", unissent leurs efforts chez Rational Software en 1994–1995 pour créer un langage de</a:t>
            </a:r>
          </a:p>
          <a:p xmlns:a="http://schemas.openxmlformats.org/drawingml/2006/main">
            <a:r>
              <a:t>modélisation unifié.</a:t>
            </a:r>
          </a:p>
          <a:p xmlns:a="http://schemas.openxmlformats.org/drawingml/2006/main">
            <a:endParaRPr/>
          </a:p>
          <a:p xmlns:a="http://schemas.openxmlformats.org/drawingml/2006/main">
            <a:r>
              <a:t>Le fruit de leur collaboration, UML, est présenté pour la première fois en 1996 et adopté comme standard par l'Object</a:t>
            </a:r>
          </a:p>
          <a:p xmlns:a="http://schemas.openxmlformats.org/drawingml/2006/main">
            <a:r>
              <a:t>Management Group (OMG) en 1997. Cette normalisation marque un tournant décisif, faisant d'UML le langage de modélisation</a:t>
            </a:r>
          </a:p>
          <a:p xmlns:a="http://schemas.openxmlformats.org/drawingml/2006/main">
            <a:r>
              <a:t>standard pour le développement logiciel. Depuis son adoption, UML a connu plusieurs révisions majeures, notamment UML</a:t>
            </a:r>
          </a:p>
          <a:p xmlns:a="http://schemas.openxmlformats.org/drawingml/2006/main">
            <a:r>
              <a:t>2.0 en 2005, qui a introduit des améliorations significatives pour mieux supporter les architectures</a:t>
            </a:r>
          </a:p>
          <a:p xmlns:a="http://schemas.openxmlformats.org/drawingml/2006/main">
            <a:r>
              <a:t>logicielles complexes et les nouveaux paradigmes de programmation. UML continue d'être développé et mis à jour,</a:t>
            </a:r>
          </a:p>
          <a:p xmlns:a="http://schemas.openxmlformats.org/drawingml/2006/main">
            <a:r>
              <a:t>reflétant les évolutions constantes du domaine du génie logiciel.</a:t>
            </a:r>
          </a:p>
          <a:p xmlns:a="http://schemas.openxmlformats.org/drawingml/2006/main">
            <a:endParaRPr/>
          </a:p>
          <a:p xmlns:a="http://schemas.openxmlformats.org/drawingml/2006/main">
            <a:r>
              <a:t>### Quelques repères chronologiques</a:t>
            </a:r>
          </a:p>
          <a:p xmlns:a="http://schemas.openxmlformats.org/drawingml/2006/main">
            <a:endParaRPr/>
          </a:p>
          <a:p xmlns:a="http://schemas.openxmlformats.org/drawingml/2006/main">
            <a:r>
              <a:t>Pour situer UML dans le contexte historique du développement logiciel, voici quelques repères chronologiques clés :</a:t>
            </a:r>
          </a:p>
          <a:p xmlns:a="http://schemas.openxmlformats.org/drawingml/2006/main">
            <a:endParaRPr/>
          </a:p>
          <a:p xmlns:a="http://schemas.openxmlformats.org/drawingml/2006/main">
            <a:r>
              <a:t>- **Années 1960-1970 :** Durant cette période, les fondations du génie logiciel sont posées. Les langages de</a:t>
            </a:r>
          </a:p>
          <a:p xmlns:a="http://schemas.openxmlformats.org/drawingml/2006/main">
            <a:r>
              <a:t>  programmation comme C et les méthodologies structurées commencent à émerger, mais la modélisation n'est pas encore</a:t>
            </a:r>
          </a:p>
          <a:p xmlns:a="http://schemas.openxmlformats.org/drawingml/2006/main">
            <a:r>
              <a:t>  standardisée, ce qui conduit à une variété de méthodes et d'outils disparates.</a:t>
            </a:r>
          </a:p>
          <a:p xmlns:a="http://schemas.openxmlformats.org/drawingml/2006/main">
            <a:r>
              <a:t>- **Années 1980 :** Cette décennie voit l'essor des approches orientées objet, avec des langages comme C++ et Smalltalk.</a:t>
            </a:r>
          </a:p>
          <a:p xmlns:a="http://schemas.openxmlformats.org/drawingml/2006/main">
            <a:r>
              <a:t>  Les développeurs commencent à utiliser des diagrammes pour représenter des conceptions orientées objet, mais il</a:t>
            </a:r>
          </a:p>
          <a:p xmlns:a="http://schemas.openxmlformats.org/drawingml/2006/main">
            <a:r>
              <a:t>  n’existe toujours pas de consensus ou de standard pour la modélisation.</a:t>
            </a:r>
          </a:p>
          <a:p xmlns:a="http://schemas.openxmlformats.org/drawingml/2006/main">
            <a:r>
              <a:t>- **Début des années 1990 :** Grady Booch, James Rumbaugh, et Ivar Jacobson, chacun travaillant de son côté, développent</a:t>
            </a:r>
          </a:p>
          <a:p xmlns:a="http://schemas.openxmlformats.org/drawingml/2006/main">
            <a:r>
              <a:t>  leurs propres méthodologies de modélisation (méthodes Booch, OMT de Rumbaugh, et méthode OOSE de Jacobson). Cependant,</a:t>
            </a:r>
          </a:p>
          <a:p xmlns:a="http://schemas.openxmlformats.org/drawingml/2006/main">
            <a:r>
              <a:t>  l'absence d'un langage commun entrave la communication et l'efficacité entre les équipes de développement.</a:t>
            </a:r>
          </a:p>
          <a:p xmlns:a="http://schemas.openxmlformats.org/drawingml/2006/main">
            <a:r>
              <a:t>- **1994-1995 :** Les "Trois Amigos" (Booch, Rumbaugh et Jacobson) s'associent chez Rational Software pour unifier leurs</a:t>
            </a:r>
          </a:p>
          <a:p xmlns:a="http://schemas.openxmlformats.org/drawingml/2006/main">
            <a:r>
              <a:t>  méthodes. Ils débutent la création de ce qui deviendra UML.</a:t>
            </a:r>
          </a:p>
          <a:p xmlns:a="http://schemas.openxmlformats.org/drawingml/2006/main">
            <a:r>
              <a:t>- **1996 :** Première version publique d’UML proposée. Elle commence à attirer l'attention comme un moyen potentiel de</a:t>
            </a:r>
          </a:p>
          <a:p xmlns:a="http://schemas.openxmlformats.org/drawingml/2006/main">
            <a:r>
              <a:t>  standardiser la modélisation de logiciels orientés objet.</a:t>
            </a:r>
          </a:p>
          <a:p xmlns:a="http://schemas.openxmlformats.org/drawingml/2006/main">
            <a:r>
              <a:t>- **1997 :** UML est adopté comme standard par l’Object Management Group (OMG), une organisation internationale qui</a:t>
            </a:r>
          </a:p>
          <a:p xmlns:a="http://schemas.openxmlformats.org/drawingml/2006/main">
            <a:r>
              <a:t>  promeut les standards de modélisation. Cette adoption marque un tournant, faisant d'UML le standard de facto pour la</a:t>
            </a:r>
          </a:p>
          <a:p xmlns:a="http://schemas.openxmlformats.org/drawingml/2006/main">
            <a:r>
              <a:t>  modélisation de logiciels.</a:t>
            </a:r>
          </a:p>
          <a:p xmlns:a="http://schemas.openxmlformats.org/drawingml/2006/main">
            <a:r>
              <a:t>- **2005 :** Introduction d'UML 2, qui étend et améliore les fonctionnalités du langage original pour mieux</a:t>
            </a:r>
          </a:p>
          <a:p xmlns:a="http://schemas.openxmlformats.org/drawingml/2006/main">
            <a:r>
              <a:t>  supporter les architectures logicielles complexes et les nouveaux paradigmes de programmation. UML continue d'évoluer</a:t>
            </a:r>
          </a:p>
          <a:p xmlns:a="http://schemas.openxmlformats.org/drawingml/2006/main">
            <a:r>
              <a:t>  avec de nouvelles mises à jour, intégrant des améliorations basées sur les retours de la communauté de développeurs et</a:t>
            </a:r>
          </a:p>
          <a:p xmlns:a="http://schemas.openxmlformats.org/drawingml/2006/main">
            <a:r>
              <a:t>  les besoins de l'industrie.</a:t>
            </a:r>
          </a:p>
          <a:p xmlns:a="http://schemas.openxmlformats.org/drawingml/2006/main">
            <a:endParaRPr/>
          </a:p>
          <a:p xmlns:a="http://schemas.openxmlformats.org/drawingml/2006/main">
            <a:r>
              <a:t>&gt; Mise à jour : UML 2.5.1 a été publié par l’OMG en décembre 2017. Les développements suivants décrivent l’apport historique d’UML 2.5 (2015).</a:t>
            </a:r>
          </a:p>
          <a:p xmlns:a="http://schemas.openxmlformats.org/drawingml/2006/main">
            <a:endParaRPr/>
          </a:p>
          <a:p xmlns:a="http://schemas.openxmlformats.org/drawingml/2006/main">
            <a:r>
              <a:t>### UML 2.5 : repère historique</a:t>
            </a:r>
          </a:p>
          <a:p xmlns:a="http://schemas.openxmlformats.org/drawingml/2006/main">
            <a:endParaRPr/>
          </a:p>
          <a:p xmlns:a="http://schemas.openxmlformats.org/drawingml/2006/main">
            <a:r>
              <a:t>UML 2.5 est une version du langage de modélisation unifié (Unified Modeling Language, UML) qui a été publiée par</a:t>
            </a:r>
          </a:p>
          <a:p xmlns:a="http://schemas.openxmlformats.org/drawingml/2006/main">
            <a:r>
              <a:t>l'Object Management Group (OMG) en 2015. Cette version représente une évolution incrémentielle plutôt qu'une refonte</a:t>
            </a:r>
          </a:p>
          <a:p xmlns:a="http://schemas.openxmlformats.org/drawingml/2006/main">
            <a:r>
              <a:t>majeure, avec pour objectif principal d'améliorer la précision, la clarté et la cohérence de la spécification UML sans</a:t>
            </a:r>
          </a:p>
          <a:p xmlns:a="http://schemas.openxmlformats.org/drawingml/2006/main">
            <a:r>
              <a:t>introduire de nouvelles fonctionnalités substantielles. Voici quelques aspects clés d'UML 2.5 :</a:t>
            </a:r>
          </a:p>
          <a:p xmlns:a="http://schemas.openxmlformats.org/drawingml/2006/main">
            <a:endParaRPr/>
          </a:p>
          <a:p xmlns:a="http://schemas.openxmlformats.org/drawingml/2006/main">
            <a:r>
              <a:t>#### Clarification et Simplification</a:t>
            </a:r>
          </a:p>
          <a:p xmlns:a="http://schemas.openxmlformats.org/drawingml/2006/main">
            <a:endParaRPr/>
          </a:p>
          <a:p xmlns:a="http://schemas.openxmlformats.org/drawingml/2006/main">
            <a:r>
              <a:t>UML 2.5 a cherché à clarifier et simplifier les spécifications existantes pour rendre le langage plus accessible et plus</a:t>
            </a:r>
          </a:p>
          <a:p xmlns:a="http://schemas.openxmlformats.org/drawingml/2006/main">
            <a:r>
              <a:t>facile à utiliser. Cela a inclus la révision de la documentation pour éliminer les ambiguïtés et les erreurs,</a:t>
            </a:r>
          </a:p>
          <a:p xmlns:a="http://schemas.openxmlformats.org/drawingml/2006/main">
            <a:r>
              <a:t>garantissant que les modèles créés soient plus précis et plus faciles à interpréter par les différentes parties</a:t>
            </a:r>
          </a:p>
          <a:p xmlns:a="http://schemas.openxmlformats.org/drawingml/2006/main">
            <a:r>
              <a:t>prenantes.</a:t>
            </a:r>
          </a:p>
          <a:p xmlns:a="http://schemas.openxmlformats.org/drawingml/2006/main">
            <a:endParaRPr/>
          </a:p>
          <a:p xmlns:a="http://schemas.openxmlformats.org/drawingml/2006/main">
            <a:r>
              <a:t>#### Améliorations de la Notation</a:t>
            </a:r>
          </a:p>
          <a:p xmlns:a="http://schemas.openxmlformats.org/drawingml/2006/main">
            <a:endParaRPr/>
          </a:p>
          <a:p xmlns:a="http://schemas.openxmlformats.org/drawingml/2006/main">
            <a:r>
              <a:t>Bien que UML 2.5 n'ait pas introduit de nouvelles notations, il a apporté des améliorations subtiles pour améliorer la</a:t>
            </a:r>
          </a:p>
          <a:p xmlns:a="http://schemas.openxmlformats.org/drawingml/2006/main">
            <a:r>
              <a:t>lisibilité et la cohérence des diagrammes. Ces modifications ont aidé à standardiser la façon dont les informations sont</a:t>
            </a:r>
          </a:p>
          <a:p xmlns:a="http://schemas.openxmlformats.org/drawingml/2006/main">
            <a:r>
              <a:t>présentées dans les diagrammes, facilitant ainsi la communication entre les développeurs et les autres acteurs impliqués</a:t>
            </a:r>
          </a:p>
          <a:p xmlns:a="http://schemas.openxmlformats.org/drawingml/2006/main">
            <a:r>
              <a:t>dans le processus de développement.</a:t>
            </a:r>
          </a:p>
          <a:p xmlns:a="http://schemas.openxmlformats.org/drawingml/2006/main">
            <a:endParaRPr/>
          </a:p>
          <a:p xmlns:a="http://schemas.openxmlformats.org/drawingml/2006/main">
            <a:r>
              <a:t>#### Conformité et Consistance</a:t>
            </a:r>
          </a:p>
          <a:p xmlns:a="http://schemas.openxmlformats.org/drawingml/2006/main">
            <a:endParaRPr/>
          </a:p>
          <a:p xmlns:a="http://schemas.openxmlformats.org/drawingml/2006/main">
            <a:r>
              <a:t>Une attention particulière a été accordée à la conformité et à la consistance entre les différents types de diagrammes.</a:t>
            </a:r>
          </a:p>
          <a:p xmlns:a="http://schemas.openxmlformats.org/drawingml/2006/main">
            <a:r>
              <a:t>UML 2.5 a renforcé la consistance interne du langage, assurant que les divers éléments et diagrammes travaillent</a:t>
            </a:r>
          </a:p>
          <a:p xmlns:a="http://schemas.openxmlformats.org/drawingml/2006/main">
            <a:r>
              <a:t>ensemble de manière plus harmonieuse. Cela aide les utilisateurs à mieux intégrer UML dans leurs processus de</a:t>
            </a:r>
          </a:p>
          <a:p xmlns:a="http://schemas.openxmlformats.org/drawingml/2006/main">
            <a:r>
              <a:t>développement logiciel, en particulier dans des environnements complexes et à grande échelle.</a:t>
            </a:r>
          </a:p>
          <a:p xmlns:a="http://schemas.openxmlformats.org/drawingml/2006/main">
            <a:endParaRPr/>
          </a:p>
          <a:p xmlns:a="http://schemas.openxmlformats.org/drawingml/2006/main">
            <a:r>
              <a:t>#### Impact sur les Outils de Modélisation</a:t>
            </a:r>
          </a:p>
          <a:p xmlns:a="http://schemas.openxmlformats.org/drawingml/2006/main">
            <a:endParaRPr/>
          </a:p>
          <a:p xmlns:a="http://schemas.openxmlformats.org/drawingml/2006/main">
            <a:r>
              <a:t>L'introduction d'UML 2.5 a également eu un impact sur les outils de modélisation logicielle, qui ont dû être mis à jour</a:t>
            </a:r>
          </a:p>
          <a:p xmlns:a="http://schemas.openxmlformats.org/drawingml/2006/main">
            <a:r>
              <a:t>pour supporter les améliorations et les clarifications apportées par cette version. Les fournisseurs d'outils ont adapté</a:t>
            </a:r>
          </a:p>
          <a:p xmlns:a="http://schemas.openxmlformats.org/drawingml/2006/main">
            <a:r>
              <a:t>leurs produits pour assurer la compatibilité avec UML 2.5, permettant ainsi une transition en douceur pour les</a:t>
            </a:r>
          </a:p>
          <a:p xmlns:a="http://schemas.openxmlformats.org/drawingml/2006/main">
            <a:r>
              <a:t>utilisateurs.</a:t>
            </a:r>
          </a:p>
          <a:p xmlns:a="http://schemas.openxmlformats.org/drawingml/2006/main">
            <a:endParaRPr/>
          </a:p>
          <a:p xmlns:a="http://schemas.openxmlformats.org/drawingml/2006/main">
            <a:r>
              <a:t>UML 2.5 continue de jouer un rôle crucial dans le domaine de la modélisation logicielle, facilitant la conception, la</a:t>
            </a:r>
          </a:p>
          <a:p xmlns:a="http://schemas.openxmlformats.org/drawingml/2006/main">
            <a:r>
              <a:t>visualisation, et la documentation de systèmes logiciels complexes. En raffinant et en clarifiant les spécifications,</a:t>
            </a:r>
          </a:p>
          <a:p xmlns:a="http://schemas.openxmlformats.org/drawingml/2006/main">
            <a:r>
              <a:t>UML 2.5 aide les professionnels du logiciel à créer des modèles plus précis et efficaces, renforçant ainsi l'utilité de</a:t>
            </a:r>
          </a:p>
          <a:p xmlns:a="http://schemas.openxmlformats.org/drawingml/2006/main">
            <a:r>
              <a:t>UML dans le développement logiciel moderne.</a:t>
            </a:r>
          </a:p>
          <a:p xmlns:a="http://schemas.openxmlformats.org/drawingml/2006/main">
            <a:endParaRPr/>
          </a:p>
          <a:p xmlns:a="http://schemas.openxmlformats.org/drawingml/2006/main">
            <a:r>
              <a:t>## Importance de l'UML dans le développement logiciel</a:t>
            </a:r>
          </a:p>
          <a:p xmlns:a="http://schemas.openxmlformats.org/drawingml/2006/main">
            <a:endParaRPr/>
          </a:p>
          <a:p xmlns:a="http://schemas.openxmlformats.org/drawingml/2006/main">
            <a:r>
              <a:t>### Vue Technique</a:t>
            </a:r>
          </a:p>
          <a:p xmlns:a="http://schemas.openxmlformats.org/drawingml/2006/main">
            <a:endParaRPr/>
          </a:p>
          <a:p xmlns:a="http://schemas.openxmlformats.org/drawingml/2006/main">
            <a:r>
              <a:t>Du point de vue technique, UML (Unified Modeling Language) offre un cadre structuré pour visualiser et concevoir des</a:t>
            </a:r>
          </a:p>
          <a:p xmlns:a="http://schemas.openxmlformats.org/drawingml/2006/main">
            <a:r>
              <a:t>systèmes logiciels complexes. Cette standardisation permet aux développeurs de créer des modèles détaillés qui</a:t>
            </a:r>
          </a:p>
          <a:p xmlns:a="http://schemas.openxmlformats.org/drawingml/2006/main">
            <a:r>
              <a:t>représentent non seulement les fonctionnalités du système, mais également les interactions et les dépendances entre ses</a:t>
            </a:r>
          </a:p>
          <a:p xmlns:a="http://schemas.openxmlformats.org/drawingml/2006/main">
            <a:r>
              <a:t>différentes composantes. Par exemple, les diagrammes de classes en UML fournissent une vue claire de la structure objet</a:t>
            </a:r>
          </a:p>
          <a:p xmlns:a="http://schemas.openxmlformats.org/drawingml/2006/main">
            <a:r>
              <a:t>du logiciel, montrant les classes, leurs attributs, méthodes, et les relations comme l'héritage et les associations.</a:t>
            </a:r>
          </a:p>
          <a:p xmlns:a="http://schemas.openxmlformats.org/drawingml/2006/main">
            <a:r>
              <a:t>Cette visualisation aide les développeurs à identifier les redondances et les optimisations possibles, facilitant ainsi</a:t>
            </a:r>
          </a:p>
          <a:p xmlns:a="http://schemas.openxmlformats.org/drawingml/2006/main">
            <a:r>
              <a:t>une architecture plus robuste et maintenable.</a:t>
            </a:r>
          </a:p>
          <a:p xmlns:a="http://schemas.openxmlformats.org/drawingml/2006/main">
            <a:endParaRPr/>
          </a:p>
          <a:p xmlns:a="http://schemas.openxmlformats.org/drawingml/2006/main">
            <a:r>
              <a:t>### Parties Prenantes</a:t>
            </a:r>
          </a:p>
          <a:p xmlns:a="http://schemas.openxmlformats.org/drawingml/2006/main">
            <a:endParaRPr/>
          </a:p>
          <a:p xmlns:a="http://schemas.openxmlformats.org/drawingml/2006/main">
            <a:r>
              <a:t>Pour les parties prenantes non techniques, telles que les gestionnaires de projet et les clients, UML sert d'outil de</a:t>
            </a:r>
          </a:p>
          <a:p xmlns:a="http://schemas.openxmlformats.org/drawingml/2006/main">
            <a:r>
              <a:t>communication crucial. Les diagrammes UML, tels que les diagrammes de cas d'utilisation, permettent de présenter</a:t>
            </a:r>
          </a:p>
          <a:p xmlns:a="http://schemas.openxmlformats.org/drawingml/2006/main">
            <a:r>
              <a:t>clairement les fonctionnalités du système d'une manière compréhensible. Ceux-ci démontrent comment les différents</a:t>
            </a:r>
          </a:p>
          <a:p xmlns:a="http://schemas.openxmlformats.org/drawingml/2006/main">
            <a:r>
              <a:t>utilisateurs (acteurs) interagiront avec le système, ce qui peut être essentiel lors de la définition des exigences et</a:t>
            </a:r>
          </a:p>
          <a:p xmlns:a="http://schemas.openxmlformats.org/drawingml/2006/main">
            <a:r>
              <a:t>des attentes. En transformant des concepts techniques en visualisations graphiques, UML facilite les discussions et la</a:t>
            </a:r>
          </a:p>
          <a:p xmlns:a="http://schemas.openxmlformats.org/drawingml/2006/main">
            <a:r>
              <a:t>prise de décision au sein des équipes multidisciplinaires, assurant que tous les membres comprennent le produit final</a:t>
            </a:r>
          </a:p>
          <a:p xmlns:a="http://schemas.openxmlformats.org/drawingml/2006/main">
            <a:r>
              <a:t>envisagé.</a:t>
            </a:r>
          </a:p>
          <a:p xmlns:a="http://schemas.openxmlformats.org/drawingml/2006/main">
            <a:endParaRPr/>
          </a:p>
          <a:p xmlns:a="http://schemas.openxmlformats.org/drawingml/2006/main">
            <a:r>
              <a:t>### Documentation Technique</a:t>
            </a:r>
          </a:p>
          <a:p xmlns:a="http://schemas.openxmlformats.org/drawingml/2006/main">
            <a:endParaRPr/>
          </a:p>
          <a:p xmlns:a="http://schemas.openxmlformats.org/drawingml/2006/main">
            <a:r>
              <a:t>La documentation technique est une autre pierre angulaire du développement logiciel où UML prouve son utilité. Les</a:t>
            </a:r>
          </a:p>
          <a:p xmlns:a="http://schemas.openxmlformats.org/drawingml/2006/main">
            <a:r>
              <a:t>diagrammes UML créent un référentiel de connaissance qui peut être utilisé tout au long du cycle de vie du développement</a:t>
            </a:r>
          </a:p>
          <a:p xmlns:a="http://schemas.openxmlformats.org/drawingml/2006/main">
            <a:r>
              <a:t>logiciel, de la conception à la maintenance. Les diagrammes d'activité et de séquence, par exemple, détaillent le flux</a:t>
            </a:r>
          </a:p>
          <a:p xmlns:a="http://schemas.openxmlformats.org/drawingml/2006/main">
            <a:r>
              <a:t>de processus et les interactions système à système, ce qui est crucial pour les nouvelles recrues et les équipes de</a:t>
            </a:r>
          </a:p>
          <a:p xmlns:a="http://schemas.openxmlformats.org/drawingml/2006/main">
            <a:r>
              <a:t>maintenance pour comprendre rapidement comment le système fonctionne. Cela contribue à une meilleure gestion du code</a:t>
            </a:r>
          </a:p>
          <a:p xmlns:a="http://schemas.openxmlformats.org/drawingml/2006/main">
            <a:r>
              <a:t>existant et à l'intégration de nouvelles fonctionnalités sans perturber les fonctionnalités existantes.</a:t>
            </a:r>
          </a:p>
          <a:p xmlns:a="http://schemas.openxmlformats.org/drawingml/2006/main">
            <a:endParaRPr/>
          </a:p>
          <a:p xmlns:a="http://schemas.openxmlformats.org/drawingml/2006/main">
            <a:r>
              <a:t>### Conception</a:t>
            </a:r>
          </a:p>
          <a:p xmlns:a="http://schemas.openxmlformats.org/drawingml/2006/main">
            <a:endParaRPr/>
          </a:p>
          <a:p xmlns:a="http://schemas.openxmlformats.org/drawingml/2006/main">
            <a:r>
              <a:t>Sur le plan de la conception, UML permet aux architectes logiciels de prévisualiser les effets de leurs décisions de</a:t>
            </a:r>
          </a:p>
          <a:p xmlns:a="http://schemas.openxmlformats.org/drawingml/2006/main">
            <a:r>
              <a:t>conception avant la mise en œuvre. En utilisant des diagrammes de composants et de déploiement, par exemple, ils peuvent</a:t>
            </a:r>
          </a:p>
          <a:p xmlns:a="http://schemas.openxmlformats.org/drawingml/2006/main">
            <a:r>
              <a:t>planifier comment les différentes parties du système s'intégreront sur différents matériels ou réseaux. Cette</a:t>
            </a:r>
          </a:p>
          <a:p xmlns:a="http://schemas.openxmlformats.org/drawingml/2006/main">
            <a:r>
              <a:t>planification aide à anticiper les problèmes potentiels, comme les goulets d'étranglement de performance ou les</a:t>
            </a:r>
          </a:p>
          <a:p xmlns:a="http://schemas.openxmlformats.org/drawingml/2006/main">
            <a:r>
              <a:t>problèmes de communication entre composants distribués, avant qu'ils ne deviennent critiques.</a:t>
            </a:r>
          </a:p>
          <a:p xmlns:a="http://schemas.openxmlformats.org/drawingml/2006/main">
            <a:endParaRPr/>
          </a:p>
          <a:p xmlns:a="http://schemas.openxmlformats.org/drawingml/2006/main">
            <a:r>
              <a:t>### Exemples d'Application Concrètes et Historiques</a:t>
            </a:r>
          </a:p>
          <a:p xmlns:a="http://schemas.openxmlformats.org/drawingml/2006/main">
            <a:endParaRPr/>
          </a:p>
          <a:p xmlns:a="http://schemas.openxmlformats.org/drawingml/2006/main">
            <a:r>
              <a:t>Historiquement, UML a été utilisé dans des projets logiciels de grande envergure, tels que dans le développement de</a:t>
            </a:r>
          </a:p>
          <a:p xmlns:a="http://schemas.openxmlformats.org/drawingml/2006/main">
            <a:r>
              <a:t>systèmes de télécommunications ou de logiciels embarqués dans l'automobile et l'aéronautique. Par exemple, dans le</a:t>
            </a:r>
          </a:p>
          <a:p xmlns:a="http://schemas.openxmlformats.org/drawingml/2006/main">
            <a:r>
              <a:t>développement d'un système de contrôle de trafic aérien, UML a été employé pour modéliser les interactions complexes</a:t>
            </a:r>
          </a:p>
          <a:p xmlns:a="http://schemas.openxmlformats.org/drawingml/2006/main">
            <a:r>
              <a:t>entre les avions, les tours de contrôle, et les systèmes de navigation terrestre. En fournissant une méthode</a:t>
            </a:r>
          </a:p>
          <a:p xmlns:a="http://schemas.openxmlformats.org/drawingml/2006/main">
            <a:r>
              <a:t>standardisée pour la modélisation de ces interactions, UML aide à assurer la fiabilité et la sécurité critiques de tels</a:t>
            </a:r>
          </a:p>
          <a:p xmlns:a="http://schemas.openxmlformats.org/drawingml/2006/main">
            <a:r>
              <a:t>systèmes.</a:t>
            </a:r>
          </a:p>
          <a:p xmlns:a="http://schemas.openxmlformats.org/drawingml/2006/main">
            <a:endParaRPr/>
          </a:p>
          <a:p xmlns:a="http://schemas.openxmlformats.org/drawingml/2006/main">
            <a:r>
              <a:t>En somme, l'importance d'UML dans le développement logiciel est manifeste à travers son adoption généralisée pour la</a:t>
            </a:r>
          </a:p>
          <a:p xmlns:a="http://schemas.openxmlformats.org/drawingml/2006/main">
            <a:r>
              <a:t>modélisation, la conception, et la documentation dans une multitude de domaines appliqués. Sa capacité à unifier les</a:t>
            </a:r>
          </a:p>
          <a:p xmlns:a="http://schemas.openxmlformats.org/drawingml/2006/main">
            <a:r>
              <a:t>perspectives techniques et non techniques en fait un outil indispensable dans la boîte à outils de tout développeur de</a:t>
            </a:r>
          </a:p>
          <a:p xmlns:a="http://schemas.openxmlformats.org/drawingml/2006/main">
            <a:r>
              <a:t>logiciels modernes.</a:t>
            </a:r>
          </a:p>
          <a:p xmlns:a="http://schemas.openxmlformats.org/drawingml/2006/main">
            <a:endParaRPr/>
          </a:p>
          <a:p xmlns:a="http://schemas.openxmlformats.org/drawingml/2006/main">
            <a:r>
              <a:t>## Les types de diagrammes UML</a:t>
            </a:r>
          </a:p>
          <a:p xmlns:a="http://schemas.openxmlformats.org/drawingml/2006/main">
            <a:endParaRPr/>
          </a:p>
          <a:p xmlns:a="http://schemas.openxmlformats.org/drawingml/2006/main">
            <a:r>
              <a:t>![01-hierarchy.png](../images/01-hierarchy.png)</a:t>
            </a:r>
          </a:p>
          <a:p xmlns:a="http://schemas.openxmlformats.org/drawingml/2006/main">
            <a:endParaRPr/>
          </a:p>
          <a:p xmlns:a="http://schemas.openxmlformats.org/drawingml/2006/main">
            <a:r>
              <a:t>Les diagrammes UML sont divisés en deux grandes catégories, chacune ciblant différents aspects de la modélisation des</a:t>
            </a:r>
          </a:p>
          <a:p xmlns:a="http://schemas.openxmlformats.org/drawingml/2006/main">
            <a:r>
              <a:t>systèmes logiciels : les diagrammes comportementaux et les diagrammes structurels. Voici une liste exhaustive de ces</a:t>
            </a:r>
          </a:p>
          <a:p xmlns:a="http://schemas.openxmlformats.org/drawingml/2006/main">
            <a:r>
              <a:t>diagrammes, accompagnée de descriptions détaillées et de leurs utilisations dans le cycle de développement logiciel.</a:t>
            </a:r>
          </a:p>
          <a:p xmlns:a="http://schemas.openxmlformats.org/drawingml/2006/main">
            <a:endParaRPr/>
          </a:p>
          <a:p xmlns:a="http://schemas.openxmlformats.org/drawingml/2006/main">
            <a:r>
              <a:t>### Les diagrammes Comportementaux</a:t>
            </a:r>
          </a:p>
          <a:p xmlns:a="http://schemas.openxmlformats.org/drawingml/2006/main">
            <a:endParaRPr/>
          </a:p>
          <a:p xmlns:a="http://schemas.openxmlformats.org/drawingml/2006/main">
            <a:r>
              <a:t>Ces diagrammes sont utilisés pour modéliser le comportement et les aspects dynamiques des systèmes.</a:t>
            </a:r>
          </a:p>
          <a:p xmlns:a="http://schemas.openxmlformats.org/drawingml/2006/main">
            <a:endParaRPr/>
          </a:p>
          <a:p xmlns:a="http://schemas.openxmlformats.org/drawingml/2006/main">
            <a:r>
              <a:t>- **Diagrammes de cas d'utilisation :**  </a:t>
            </a:r>
          </a:p>
          <a:p xmlns:a="http://schemas.openxmlformats.org/drawingml/2006/main">
            <a:r>
              <a:t>  Ils décrivent les interactions entre les utilisateurs (ou acteurs) et le système, pour identifier les fonctionnalités</a:t>
            </a:r>
          </a:p>
          <a:p xmlns:a="http://schemas.openxmlformats.org/drawingml/2006/main">
            <a:r>
              <a:t>  que le système doit fournir. Utilisés dès les premières étapes du développement, ils aident à capturer les exigences</a:t>
            </a:r>
          </a:p>
          <a:p xmlns:a="http://schemas.openxmlformats.org/drawingml/2006/main">
            <a:r>
              <a:t>  du système et à communiquer ces exigences entre les développeurs et les parties prenantes.</a:t>
            </a:r>
          </a:p>
          <a:p xmlns:a="http://schemas.openxmlformats.org/drawingml/2006/main">
            <a:r>
              <a:t>- **Diagrammes de séquence :**  </a:t>
            </a:r>
          </a:p>
          <a:p xmlns:a="http://schemas.openxmlformats.org/drawingml/2006/main">
            <a:r>
              <a:t>  Ils montrent comment les objets interagissent entre eux en termes de séquence temporelle. Très utiles pour la</a:t>
            </a:r>
          </a:p>
          <a:p xmlns:a="http://schemas.openxmlformats.org/drawingml/2006/main">
            <a:r>
              <a:t>  planification et la visualisation de la logistique des processus complexes, ils sont cruciaux lors de la phase de</a:t>
            </a:r>
          </a:p>
          <a:p xmlns:a="http://schemas.openxmlformats.org/drawingml/2006/main">
            <a:r>
              <a:t>  conception détaillée pour garantir que tous les éléments interagissent harmonieusement.</a:t>
            </a:r>
          </a:p>
          <a:p xmlns:a="http://schemas.openxmlformats.org/drawingml/2006/main">
            <a:r>
              <a:t>- **Diagrammes d'activité :**  </a:t>
            </a:r>
          </a:p>
          <a:p xmlns:a="http://schemas.openxmlformats.org/drawingml/2006/main">
            <a:r>
              <a:t>  Ces diagrammes sont similaires aux diagrammes de flux de processus et sont utilisés pour modéliser le flux de contrôle</a:t>
            </a:r>
          </a:p>
          <a:p xmlns:a="http://schemas.openxmlformats.org/drawingml/2006/main">
            <a:r>
              <a:t>  d'une activité à l'autre. Ils sont particulièrement utiles pour modéliser les aspects procéduraux d'un système, comme</a:t>
            </a:r>
          </a:p>
          <a:p xmlns:a="http://schemas.openxmlformats.org/drawingml/2006/main">
            <a:r>
              <a:t>  les algorithmes ou les flux de travail, et sont souvent employés lors de la modélisation de cas d'utilisation.</a:t>
            </a:r>
          </a:p>
          <a:p xmlns:a="http://schemas.openxmlformats.org/drawingml/2006/main">
            <a:r>
              <a:t>- **Diagrammes d'états-transition :**  </a:t>
            </a:r>
          </a:p>
          <a:p xmlns:a="http://schemas.openxmlformats.org/drawingml/2006/main">
            <a:r>
              <a:t>  Aussi appelés diagrammes d'états, ils décrivent les changements d'état d'un objet en réponse à des événements</a:t>
            </a:r>
          </a:p>
          <a:p xmlns:a="http://schemas.openxmlformats.org/drawingml/2006/main">
            <a:r>
              <a:t>  externes. Ils sont essentiels pour les développeurs qui travaillent sur des systèmes où les objets doivent changer</a:t>
            </a:r>
          </a:p>
          <a:p xmlns:a="http://schemas.openxmlformats.org/drawingml/2006/main">
            <a:r>
              <a:t>  d'état de manière claire et prévisible, comme dans les systèmes embarqués ou les applications en temps réel.</a:t>
            </a:r>
          </a:p>
          <a:p xmlns:a="http://schemas.openxmlformats.org/drawingml/2006/main">
            <a:r>
              <a:t>- **Diagrammes de timing :**  </a:t>
            </a:r>
          </a:p>
          <a:p xmlns:a="http://schemas.openxmlformats.org/drawingml/2006/main">
            <a:r>
              <a:t>  Ces diagrammes représentent les changements d'état ou les conditions d'un objet au fil du temps. Ils sont utiles dans</a:t>
            </a:r>
          </a:p>
          <a:p xmlns:a="http://schemas.openxmlformats.org/drawingml/2006/main">
            <a:r>
              <a:t>  le développement de systèmes embarqués et en temps réel où la compréhension des contraintes temporelles est critique.</a:t>
            </a:r>
          </a:p>
          <a:p xmlns:a="http://schemas.openxmlformats.org/drawingml/2006/main">
            <a:r>
              <a:t>- **Diagrammes de communication (auparavant nommés collaboration) :**  </a:t>
            </a:r>
          </a:p>
          <a:p xmlns:a="http://schemas.openxmlformats.org/drawingml/2006/main">
            <a:r>
              <a:t>  Ils mettent en évidence les interactions entre les objets en fonction de leurs liens et de leur organisation, montrant</a:t>
            </a:r>
          </a:p>
          <a:p xmlns:a="http://schemas.openxmlformats.org/drawingml/2006/main">
            <a:r>
              <a:t>  la collaboration de plusieurs objets pour réaliser une fonctionnalité. Ce sont des outils précieux lors de la phase de</a:t>
            </a:r>
          </a:p>
          <a:p xmlns:a="http://schemas.openxmlformats.org/drawingml/2006/main">
            <a:r>
              <a:t>  conception pour assurer que tous les composants du système fonctionnent ensemble de manière cohérente.</a:t>
            </a:r>
          </a:p>
          <a:p xmlns:a="http://schemas.openxmlformats.org/drawingml/2006/main">
            <a:r>
              <a:t>- **Diagrammes d'interaction générale :**  </a:t>
            </a:r>
          </a:p>
          <a:p xmlns:a="http://schemas.openxmlformats.org/drawingml/2006/main">
            <a:r>
              <a:t>  Ils englobent les diagrammes de séquence, de communication et de timing pour montrer des interactions complexes à</a:t>
            </a:r>
          </a:p>
          <a:p xmlns:a="http://schemas.openxmlformats.org/drawingml/2006/main">
            <a:r>
              <a:t>  travers plusieurs vues ou à plusieurs niveaux.</a:t>
            </a:r>
          </a:p>
          <a:p xmlns:a="http://schemas.openxmlformats.org/drawingml/2006/main">
            <a:endParaRPr/>
          </a:p>
          <a:p xmlns:a="http://schemas.openxmlformats.org/drawingml/2006/main">
            <a:r>
              <a:t>### Les diagrammes Structurels</a:t>
            </a:r>
          </a:p>
          <a:p xmlns:a="http://schemas.openxmlformats.org/drawingml/2006/main">
            <a:endParaRPr/>
          </a:p>
          <a:p xmlns:a="http://schemas.openxmlformats.org/drawingml/2006/main">
            <a:r>
              <a:t>Ces diagrammes se concentrent sur les éléments statiques du système logiciel.</a:t>
            </a:r>
          </a:p>
          <a:p xmlns:a="http://schemas.openxmlformats.org/drawingml/2006/main">
            <a:endParaRPr/>
          </a:p>
          <a:p xmlns:a="http://schemas.openxmlformats.org/drawingml/2006/main">
            <a:r>
              <a:t>- **Diagrammes de classes :**  </a:t>
            </a:r>
          </a:p>
          <a:p xmlns:a="http://schemas.openxmlformats.org/drawingml/2006/main">
            <a:r>
              <a:t>  Ils décrivent les classes et les interfaces, leurs rôles dans le système, et leurs relations comme l'héritage et les</a:t>
            </a:r>
          </a:p>
          <a:p xmlns:a="http://schemas.openxmlformats.org/drawingml/2006/main">
            <a:r>
              <a:t>  associations. Essentiels tout au long du processus de développement, ils sont particulièrement critiques lors de la</a:t>
            </a:r>
          </a:p>
          <a:p xmlns:a="http://schemas.openxmlformats.org/drawingml/2006/main">
            <a:r>
              <a:t>  conception et de l'implémentation pour structurer correctement le logiciel.</a:t>
            </a:r>
          </a:p>
          <a:p xmlns:a="http://schemas.openxmlformats.org/drawingml/2006/main">
            <a:r>
              <a:t>- **Diagrammes d'objets :**  </a:t>
            </a:r>
          </a:p>
          <a:p xmlns:a="http://schemas.openxmlformats.org/drawingml/2006/main">
            <a:r>
              <a:t>  Variantes des diagrammes de classes, ces diagrammes représentent des instances de classes à un moment donné. Utilisés</a:t>
            </a:r>
          </a:p>
          <a:p xmlns:a="http://schemas.openxmlformats.org/drawingml/2006/main">
            <a:r>
              <a:t>  principalement pour expliquer des situations complexes à travers des exemples concrets.</a:t>
            </a:r>
          </a:p>
          <a:p xmlns:a="http://schemas.openxmlformats.org/drawingml/2006/main">
            <a:r>
              <a:t>- **Diagrammes de composants :**  </a:t>
            </a:r>
          </a:p>
          <a:p xmlns:a="http://schemas.openxmlformats.org/drawingml/2006/main">
            <a:r>
              <a:t>  Ils montrent l'organisation et les dépendances entre les composants logiciels, utiles pour planifier l'architecture</a:t>
            </a:r>
          </a:p>
          <a:p xmlns:a="http://schemas.openxmlformats.org/drawingml/2006/main">
            <a:r>
              <a:t>  physique du système et pour gérer la complexité lors de la mise en œuvre.</a:t>
            </a:r>
          </a:p>
          <a:p xmlns:a="http://schemas.openxmlformats.org/drawingml/2006/main">
            <a:r>
              <a:t>- **Diagrammes de déploiement :**  </a:t>
            </a:r>
          </a:p>
          <a:p xmlns:a="http://schemas.openxmlformats.org/drawingml/2006/main">
            <a:r>
              <a:t>  Ils décrivent l'architecture physique et la distribution des artefacts logiciels sur l'infrastructure matérielle. Ces</a:t>
            </a:r>
          </a:p>
          <a:p xmlns:a="http://schemas.openxmlformats.org/drawingml/2006/main">
            <a:r>
              <a:t>  diagrammes sont cruciaux pour comprendre comment le logiciel fonctionnera dans différents environnements.</a:t>
            </a:r>
          </a:p>
          <a:p xmlns:a="http://schemas.openxmlformats.org/drawingml/2006/main">
            <a:r>
              <a:t>- **Diagrammes de paquets :**  </a:t>
            </a:r>
          </a:p>
          <a:p xmlns:a="http://schemas.openxmlformats.org/drawingml/2006/main">
            <a:r>
              <a:t>  Utilisés pour regrouper des éléments similaires et fournir une encapsulation et une organisation du modèle UML. Ils</a:t>
            </a:r>
          </a:p>
          <a:p xmlns:a="http://schemas.openxmlformats.org/drawingml/2006/main">
            <a:r>
              <a:t>  aident à gérer la complexité dans les grands systèmes.</a:t>
            </a:r>
          </a:p>
          <a:p xmlns:a="http://schemas.openxmlformats.org/drawingml/2006/main">
            <a:r>
              <a:t>- **Diagrammes de structure composite :**  </a:t>
            </a:r>
          </a:p>
          <a:p xmlns:a="http://schemas.openxmlformats.org/drawingml/2006/main">
            <a:r>
              <a:t>  Ils décrivent la structure interne des classes et des composants, montrant l'interaction entre les parties internes</a:t>
            </a:r>
          </a:p>
          <a:p xmlns:a="http://schemas.openxmlformats.org/drawingml/2006/main">
            <a:r>
              <a:t>  pour former des ensembles fonctionnels.</a:t>
            </a:r>
          </a:p>
          <a:p xmlns:a="http://schemas.openxmlformats.org/drawingml/2006/main">
            <a:r>
              <a:t>- **Diagrammes de profils :**  </a:t>
            </a:r>
          </a:p>
          <a:p xmlns:a="http://schemas.openxmlformats.org/drawingml/2006/main">
            <a:r>
              <a:t>  Ils définissent des contraintes et des extensions pour personnaliser les modèles UML standards pour des domaines</a:t>
            </a:r>
          </a:p>
          <a:p xmlns:a="http://schemas.openxmlformats.org/drawingml/2006/main">
            <a:r>
              <a:t>  spécifiques.</a:t>
            </a:r>
          </a:p>
          <a:p xmlns:a="http://schemas.openxmlformats.org/drawingml/2006/main">
            <a:endParaRPr/>
          </a:p>
          <a:p xmlns:a="http://schemas.openxmlformats.org/drawingml/2006/main">
            <a:endParaRPr/>
          </a:p>
          <a:p xmlns:a="http://schemas.openxmlformats.org/drawingml/2006/main">
            <a:endParaRP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9aaf5d487943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203505fd5f2148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85b257926eb24e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c706c39fbb3445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7ef3925f3e2440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3.xml" Id="R91cbbe3fd69142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3iL — Cours">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xfrm xmlns:a="http://schemas.openxmlformats.org/drawingml/2006/main">
            <a:off x="609600" y="2095500"/>
            <a:ext cx="10972800" cy="3429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p:cSld name="3iL — Illustration">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Titre</a:t>
            </a:r>
          </a:p>
        </p:txBody>
      </p:sp>
    </p:spTree>
  </p:cSld>
</p:sldLayout>
</file>

<file path=ppt/slideLayouts/slideLayout4.xml><?xml version="1.0" encoding="utf-8"?>
<p:sldLayout xmlns:p="http://schemas.openxmlformats.org/presentationml/2006/main">
  <p:cSld name="3iL — Exercice">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xfrm xmlns:a="http://schemas.openxmlformats.org/drawingml/2006/main">
            <a:off x="609600" y="2095500"/>
            <a:ext cx="10972800" cy="3429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p:cSld name="3iL — Code">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31E1A4A7-16B3-491B-8CB0-C6714A1A77B2}"/>
              </a:ext>
            </a:extLst>
          </p:cNvPr>
          <p:cNvSpPr>
            <a:spLocks xmlns:a="http://schemas.openxmlformats.org/drawingml/2006/main" noGrp="1"/>
          </p:cNvSpPr>
          <p:nvPr>
            <p:ph type="body" idx="1"/>
          </p:nvPr>
        </p:nvSpPr>
        <p:spPr>
          <a:xfrm xmlns:a="http://schemas.openxmlformats.org/drawingml/2006/main">
            <a:off x="609600" y="2047875"/>
            <a:ext cx="10972800" cy="3762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p:cSld name="3iL — Couvertur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f5e03ec906424e" /><Relationship Type="http://schemas.openxmlformats.org/officeDocument/2006/relationships/slideLayout" Target="/ppt/slideLayouts/slideLayout1.xml" Id="R93ea71f0e88448f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b92c07e77e64c53" /><Relationship Type="http://schemas.openxmlformats.org/officeDocument/2006/relationships/slideLayout" Target="/ppt/slideLayouts/slideLayout2.xml" Id="Rae93095e07304a92" /><Relationship Type="http://schemas.openxmlformats.org/officeDocument/2006/relationships/slideLayout" Target="/ppt/slideLayouts/slideLayout3.xml" Id="R9721f28992fc4e57" /><Relationship Type="http://schemas.openxmlformats.org/officeDocument/2006/relationships/slideLayout" Target="/ppt/slideLayouts/slideLayout4.xml" Id="R207494bf14744e3f" /><Relationship Type="http://schemas.openxmlformats.org/officeDocument/2006/relationships/slideLayout" Target="/ppt/slideLayouts/slideLayout5.xml" Id="Rcfa8a1aa959a4e0c" /></Relationships>
</file>

<file path=ppt/slideMasters/_rels/slideMaster3.xml.rels>&#65279;<?xml version="1.0" encoding="utf-8"?><Relationships xmlns="http://schemas.openxmlformats.org/package/2006/relationships"><Relationship Type="http://schemas.openxmlformats.org/officeDocument/2006/relationships/image" Target="/ppt/media/image.png" Id="R4a85e9b02b074ec0" /><Relationship Type="http://schemas.openxmlformats.org/officeDocument/2006/relationships/theme" Target="/ppt/slideMasters/theme/theme4.xml" Id="R1651073340a34438" /><Relationship Type="http://schemas.openxmlformats.org/officeDocument/2006/relationships/slideLayout" Target="/ppt/slideLayouts/slideLayout6.xml" Id="R0012550a4b644c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ea71f0e88448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3iL — Fondations">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3iL PROGRAMMES EXPERTS">
            <a:extLst xmlns:a="http://schemas.openxmlformats.org/drawingml/2006/main">
              <a:ext uri="{FF2B5EF4-FFF2-40B4-BE49-F238E27FC236}">
                <a16:creationId xmlns:a16="http://schemas.microsoft.com/office/drawing/2014/main" id="{A4226D00-3FC1-46FD-BB37-BD3D1DF8774E}"/>
              </a:ext>
            </a:extLst>
          </p:cNvPr>
          <p:cNvSpPr>
            <a:spLocks xmlns:a="http://schemas.openxmlformats.org/drawingml/2006/main" noGrp="1"/>
          </p:cNvSpPr>
          <p:nvPr/>
        </p:nvSpPr>
        <p:spPr>
          <a:xfrm xmlns:a="http://schemas.openxmlformats.org/drawingml/2006/main">
            <a:off x="609600" y="64008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b="0">
                <a:solidFill>
                  <a:schemeClr val="tx2"/>
                </a:solidFill>
                <a:latin typeface="Arial"/>
                <a:ea typeface="Arial"/>
                <a:cs typeface="Arial"/>
              </a:defRPr>
            </a:pPr>
            <a:r>
              <a:rPr sz="1200" b="0">
                <a:solidFill>
                  <a:schemeClr val="tx2"/>
                </a:solidFill>
                <a:latin typeface="Arial"/>
                <a:ea typeface="Arial"/>
                <a:cs typeface="Arial"/>
              </a:rPr>
              <a:t>3iL PROGRAMMES EXPERTS</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ae93095e07304a92"/>
    <p:sldLayoutId xmlns:r="http://schemas.openxmlformats.org/officeDocument/2006/relationships" id="2147483652" r:id="R9721f28992fc4e57"/>
    <p:sldLayoutId xmlns:r="http://schemas.openxmlformats.org/officeDocument/2006/relationships" id="2147483653" r:id="R207494bf14744e3f"/>
    <p:sldLayoutId xmlns:r="http://schemas.openxmlformats.org/officeDocument/2006/relationships" id="2147483654" r:id="Rcfa8a1aa959a4e0c"/>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name="3iL — Ouverture">
    <p:bg>
      <p:bgPr>
        <a:solidFill xmlns:a="http://schemas.openxmlformats.org/drawingml/2006/main">
          <a:schemeClr val="accent1"/>
        </a:solidFill>
      </p:bgPr>
    </p:bg>
    <p:spTree>
      <p:nvGrpSpPr>
        <p:cNvPr id="1" name=""/>
        <p:cNvGrpSpPr/>
        <p:nvPr/>
      </p:nvGrpSpPr>
      <p:grpSpPr>
        <a:xfrm xmlns:a="http://schemas.openxmlformats.org/drawingml/2006/main"/>
      </p:grpSpPr>
      <p:pic>
        <p:nvPicPr>
          <p:cNvPr id="2" name="Image 1"/>
          <p:cNvPicPr>
            <a:picLocks xmlns:a="http://schemas.openxmlformats.org/drawingml/2006/main" noChangeAspect="1"/>
          </p:cNvPicPr>
          <p:nvPr/>
        </p:nvPicPr>
        <p:blipFill>
          <a:blip xmlns:r="http://schemas.openxmlformats.org/officeDocument/2006/relationships" xmlns:a="http://schemas.openxmlformats.org/drawingml/2006/main" r:embed="R4a85e9b02b074ec0"/>
          <a:stretch xmlns:a="http://schemas.openxmlformats.org/drawingml/2006/main"/>
        </p:blipFill>
        <p:spPr>
          <a:xfrm xmlns:a="http://schemas.openxmlformats.org/drawingml/2006/main">
            <a:off x="571500" y="287770"/>
            <a:ext cx="4000500" cy="113896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0012550a4b644ce5"/>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50a397c8db4f69" /><Relationship Type="http://schemas.openxmlformats.org/officeDocument/2006/relationships/notesSlide" Target="/ppt/notesSlides/notesSlide1.xml" Id="Rb1544840c6f149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e40206ae6594563" /><Relationship Type="http://schemas.openxmlformats.org/officeDocument/2006/relationships/image" Target="/ppt/media/image2.png" Id="Rd9fa1761e5714fd5" /><Relationship Type="http://schemas.openxmlformats.org/officeDocument/2006/relationships/notesSlide" Target="/ppt/notesSlides/notesSlide2.xml" Id="Rbd0290ee0c8b41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312002603b44caa" /><Relationship Type="http://schemas.openxmlformats.org/officeDocument/2006/relationships/notesSlide" Target="/ppt/notesSlides/notesSlide3.xml" Id="R3bbd7b69003748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d5704970bc84cc0" /><Relationship Type="http://schemas.openxmlformats.org/officeDocument/2006/relationships/image" Target="/ppt/media/image2.png" Id="R1d15724736324c97" /><Relationship Type="http://schemas.openxmlformats.org/officeDocument/2006/relationships/notesSlide" Target="/ppt/notesSlides/notesSlide4.xml" Id="R451ddaa0952e4f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9b9b4dc0b9446bb" /><Relationship Type="http://schemas.openxmlformats.org/officeDocument/2006/relationships/image" Target="/ppt/media/image2.png" Id="Rae80b5e0ca9d4d96" /><Relationship Type="http://schemas.openxmlformats.org/officeDocument/2006/relationships/notesSlide" Target="/ppt/notesSlides/notesSlide5.xml" Id="Rca96e2c3bda846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bc7ad32f8c1d44c3" /><Relationship Type="http://schemas.openxmlformats.org/officeDocument/2006/relationships/image" Target="/ppt/media/image2.png" Id="Rf3d258e881cd4161" /><Relationship Type="http://schemas.openxmlformats.org/officeDocument/2006/relationships/image" Target="/ppt/media/image3.png" Id="R8eb526f8c2df4b53" /><Relationship Type="http://schemas.openxmlformats.org/officeDocument/2006/relationships/notesSlide" Target="/ppt/notesSlides/notesSlide6.xml" Id="Rfe27e2c0cd9c44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4807e360ae494f3b" /><Relationship Type="http://schemas.openxmlformats.org/officeDocument/2006/relationships/image" Target="/ppt/media/image2.png" Id="R0b96030d5371462d" /><Relationship Type="http://schemas.openxmlformats.org/officeDocument/2006/relationships/notesSlide" Target="/ppt/notesSlides/notesSlide7.xml" Id="R1c7cebbd52fa47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bab44ec75c18443a" /><Relationship Type="http://schemas.openxmlformats.org/officeDocument/2006/relationships/image" Target="/ppt/media/image2.png" Id="R06ffeb84e0914273" /><Relationship Type="http://schemas.openxmlformats.org/officeDocument/2006/relationships/notesSlide" Target="/ppt/notesSlides/notesSlide8.xml" Id="Re3fdbab1a4ec4e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f12379e4ff74ad5" /><Relationship Type="http://schemas.openxmlformats.org/officeDocument/2006/relationships/image" Target="/ppt/media/image2.png" Id="Ra0dbe8da7d5e4304" /><Relationship Type="http://schemas.openxmlformats.org/officeDocument/2006/relationships/notesSlide" Target="/ppt/notesSlides/notesSlide9.xml" Id="R56151db8c03d40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822e797016f4e3b" /><Relationship Type="http://schemas.openxmlformats.org/officeDocument/2006/relationships/image" Target="/ppt/media/image2.png" Id="R40404782bac940d6" /><Relationship Type="http://schemas.openxmlformats.org/officeDocument/2006/relationships/notesSlide" Target="/ppt/notesSlides/notesSlide10.xml" Id="R9f6fae2a47cc465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UML">
            <a:extLst xmlns:a="http://schemas.openxmlformats.org/drawingml/2006/main">
              <a:ext uri="{FF2B5EF4-FFF2-40B4-BE49-F238E27FC236}">
                <a16:creationId xmlns:a16="http://schemas.microsoft.com/office/drawing/2014/main" id="{617F03F0-0A40-4002-8DDA-EDB70C460EA9}"/>
              </a:ext>
            </a:extLst>
          </p:cNvPr>
          <p:cNvSpPr>
            <a:spLocks xmlns:a="http://schemas.openxmlformats.org/drawingml/2006/main" noGrp="1"/>
          </p:cNvSpPr>
          <p:nvPr/>
        </p:nvSpPr>
        <p:spPr>
          <a:xfrm xmlns:a="http://schemas.openxmlformats.org/drawingml/2006/main">
            <a:off x="609600" y="21621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6750" b="1">
                <a:solidFill>
                  <a:schemeClr val="lt1"/>
                </a:solidFill>
                <a:latin typeface="Arial"/>
                <a:ea typeface="Arial"/>
                <a:cs typeface="Arial"/>
              </a:defRPr>
            </a:pPr>
            <a:r>
              <a:rPr sz="6750" b="1">
                <a:solidFill>
                  <a:schemeClr val="lt1"/>
                </a:solidFill>
                <a:latin typeface="Arial"/>
                <a:ea typeface="Arial"/>
                <a:cs typeface="Arial"/>
              </a:rPr>
              <a:t>UML</a:t>
            </a:r>
          </a:p>
        </p:txBody>
      </p:sp>
      <p:sp>
        <p:nvSpPr>
          <p:cNvPr id="2" name="Modéliser les systèmes&#10;et les données">
            <a:extLst xmlns:a="http://schemas.openxmlformats.org/drawingml/2006/main">
              <a:ext uri="{FF2B5EF4-FFF2-40B4-BE49-F238E27FC236}">
                <a16:creationId xmlns:a16="http://schemas.microsoft.com/office/drawing/2014/main" id="{FEDB3EFC-FCFA-4056-B7EE-CFA848FBFF43}"/>
              </a:ext>
            </a:extLst>
          </p:cNvPr>
          <p:cNvSpPr>
            <a:spLocks xmlns:a="http://schemas.openxmlformats.org/drawingml/2006/main" noGrp="1"/>
          </p:cNvSpPr>
          <p:nvPr/>
        </p:nvSpPr>
        <p:spPr>
          <a:xfrm xmlns:a="http://schemas.openxmlformats.org/drawingml/2006/main">
            <a:off x="609600" y="338137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chemeClr val="lt1"/>
                </a:solidFill>
                <a:latin typeface="Arial"/>
                <a:ea typeface="Arial"/>
                <a:cs typeface="Arial"/>
              </a:defRPr>
            </a:pPr>
            <a:r>
              <a:rPr sz="3600" b="0">
                <a:solidFill>
                  <a:schemeClr val="lt1"/>
                </a:solidFill>
                <a:latin typeface="Arial"/>
                <a:ea typeface="Arial"/>
                <a:cs typeface="Arial"/>
              </a:rPr>
              <a:t>Modéliser les systèmes</a:t>
            </a:r>
          </a:p>
          <a:p xmlns:a="http://schemas.openxmlformats.org/drawingml/2006/main">
            <a:pPr>
              <a:buNone/>
              <a:defRPr sz="3600" b="0">
                <a:solidFill>
                  <a:schemeClr val="lt1"/>
                </a:solidFill>
                <a:latin typeface="Arial"/>
                <a:ea typeface="Arial"/>
                <a:cs typeface="Arial"/>
              </a:defRPr>
            </a:pPr>
            <a:r>
              <a:rPr sz="3600" b="0">
                <a:solidFill>
                  <a:schemeClr val="lt1"/>
                </a:solidFill>
                <a:latin typeface="Arial"/>
                <a:ea typeface="Arial"/>
                <a:cs typeface="Arial"/>
              </a:rPr>
              <a:t>et les données</a:t>
            </a:r>
          </a:p>
        </p:txBody>
      </p:sp>
      <p:sp>
        <p:nvSpPr>
          <p:cNvPr id="3" name="Cours · Exercices · Annexes">
            <a:extLst xmlns:a="http://schemas.openxmlformats.org/drawingml/2006/main">
              <a:ext uri="{FF2B5EF4-FFF2-40B4-BE49-F238E27FC236}">
                <a16:creationId xmlns:a16="http://schemas.microsoft.com/office/drawing/2014/main" id="{97D96749-44A5-4036-BD8E-9EEBA595DBC8}"/>
              </a:ext>
            </a:extLst>
          </p:cNvPr>
          <p:cNvSpPr>
            <a:spLocks xmlns:a="http://schemas.openxmlformats.org/drawingml/2006/main" noGrp="1"/>
          </p:cNvSpPr>
          <p:nvPr/>
        </p:nvSpPr>
        <p:spPr>
          <a:xfrm xmlns:a="http://schemas.openxmlformats.org/drawingml/2006/main">
            <a:off x="609600" y="56864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chemeClr val="lt1"/>
                </a:solidFill>
                <a:latin typeface="Arial"/>
                <a:ea typeface="Arial"/>
                <a:cs typeface="Arial"/>
              </a:defRPr>
            </a:pPr>
            <a:r>
              <a:rPr sz="1950" b="0">
                <a:solidFill>
                  <a:schemeClr val="lt1"/>
                </a:solidFill>
                <a:latin typeface="Arial"/>
                <a:ea typeface="Arial"/>
                <a:cs typeface="Arial"/>
              </a:rPr>
              <a:t>Cours · Exercices · Annexes</a:t>
            </a:r>
          </a:p>
        </p:txBody>
      </p:sp>
    </p:spTree>
    <p:extLst>
      <p:ext uri="{BB962C8B-B14F-4D97-AF65-F5344CB8AC3E}">
        <p14:creationId xmlns:p14="http://schemas.microsoft.com/office/powerpoint/2010/main" val="13482150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Du besoin au modèle</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Comprendre UML et choisir une vue pertinente.</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Décrire les usages, les processus et les échanges.</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Structurer les objets et les données.</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Appliquer les notions dans 12 exercices ; approfondir POO, SQL et NoSQL.</a:t>
            </a:r>
          </a:p>
        </p:txBody>
      </p:sp>
      <p:pic>
        <p:nvPicPr>
          <p:cNvPr id="10" name="Image 9"/>
          <p:cNvPicPr>
            <a:picLocks xmlns:a="http://schemas.openxmlformats.org/drawingml/2006/main" noChangeAspect="1"/>
          </p:cNvPicPr>
          <p:nvPr/>
        </p:nvPicPr>
        <p:blipFill>
          <a:blip xmlns:r="http://schemas.openxmlformats.org/officeDocument/2006/relationships" xmlns:a="http://schemas.openxmlformats.org/drawingml/2006/main" r:embed="Rd9fa1761e5714fd5"/>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PARCOURS">
            <a:extLst xmlns:a="http://schemas.openxmlformats.org/drawingml/2006/main">
              <a:ext uri="{FF2B5EF4-FFF2-40B4-BE49-F238E27FC236}">
                <a16:creationId xmlns:a16="http://schemas.microsoft.com/office/drawing/2014/main" id="{FEB8F5CE-B110-4701-948D-49367F1EBB33}"/>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PARCOURS</a:t>
            </a:r>
          </a:p>
        </p:txBody>
      </p:sp>
      <p:sp>
        <p:nvSpPr>
          <p:cNvPr id="5" name="02">
            <a:extLst xmlns:a="http://schemas.openxmlformats.org/drawingml/2006/main">
              <a:ext uri="{FF2B5EF4-FFF2-40B4-BE49-F238E27FC236}">
                <a16:creationId xmlns:a16="http://schemas.microsoft.com/office/drawing/2014/main" id="{2B25AF1A-7339-47AC-AED1-28D40D514A16}"/>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02</a:t>
            </a:r>
          </a:p>
        </p:txBody>
      </p:sp>
    </p:spTree>
    <p:extLst>
      <p:ext uri="{BB962C8B-B14F-4D97-AF65-F5344CB8AC3E}">
        <p14:creationId xmlns:p14="http://schemas.microsoft.com/office/powerpoint/2010/main" val="13853468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UML">
            <a:extLst xmlns:a="http://schemas.openxmlformats.org/drawingml/2006/main">
              <a:ext uri="{FF2B5EF4-FFF2-40B4-BE49-F238E27FC236}">
                <a16:creationId xmlns:a16="http://schemas.microsoft.com/office/drawing/2014/main" id="{617F03F0-0A40-4002-8DDA-EDB70C460EA9}"/>
              </a:ext>
            </a:extLst>
          </p:cNvPr>
          <p:cNvSpPr>
            <a:spLocks xmlns:a="http://schemas.openxmlformats.org/drawingml/2006/main" noGrp="1"/>
          </p:cNvSpPr>
          <p:nvPr/>
        </p:nvSpPr>
        <p:spPr>
          <a:xfrm xmlns:a="http://schemas.openxmlformats.org/drawingml/2006/main">
            <a:off x="609600" y="21621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6750" b="1">
                <a:solidFill>
                  <a:schemeClr val="lt1"/>
                </a:solidFill>
                <a:latin typeface="Arial"/>
                <a:ea typeface="Arial"/>
                <a:cs typeface="Arial"/>
              </a:defRPr>
            </a:pPr>
            <a:r>
              <a:rPr sz="6750" b="1">
                <a:solidFill>
                  <a:schemeClr val="lt1"/>
                </a:solidFill>
                <a:latin typeface="Arial"/>
                <a:ea typeface="Arial"/>
                <a:cs typeface="Arial"/>
              </a:rPr>
              <a:t>UML</a:t>
            </a:r>
          </a:p>
        </p:txBody>
      </p:sp>
      <p:sp>
        <p:nvSpPr>
          <p:cNvPr id="2" name="Modéliser les systèmes&#10;et les données">
            <a:extLst xmlns:a="http://schemas.openxmlformats.org/drawingml/2006/main">
              <a:ext uri="{FF2B5EF4-FFF2-40B4-BE49-F238E27FC236}">
                <a16:creationId xmlns:a16="http://schemas.microsoft.com/office/drawing/2014/main" id="{FEDB3EFC-FCFA-4056-B7EE-CFA848FBFF43}"/>
              </a:ext>
            </a:extLst>
          </p:cNvPr>
          <p:cNvSpPr>
            <a:spLocks xmlns:a="http://schemas.openxmlformats.org/drawingml/2006/main" noGrp="1"/>
          </p:cNvSpPr>
          <p:nvPr/>
        </p:nvSpPr>
        <p:spPr>
          <a:xfrm xmlns:a="http://schemas.openxmlformats.org/drawingml/2006/main">
            <a:off x="609600" y="338137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chemeClr val="lt1"/>
                </a:solidFill>
                <a:latin typeface="Arial"/>
                <a:ea typeface="Arial"/>
                <a:cs typeface="Arial"/>
              </a:defRPr>
            </a:pPr>
            <a:r>
              <a:rPr sz="3600" b="0">
                <a:solidFill>
                  <a:schemeClr val="lt1"/>
                </a:solidFill>
                <a:latin typeface="Arial"/>
                <a:ea typeface="Arial"/>
                <a:cs typeface="Arial"/>
              </a:rPr>
              <a:t>Modéliser les systèmes</a:t>
            </a:r>
          </a:p>
          <a:p xmlns:a="http://schemas.openxmlformats.org/drawingml/2006/main">
            <a:pPr>
              <a:buNone/>
              <a:defRPr sz="3600" b="0">
                <a:solidFill>
                  <a:schemeClr val="lt1"/>
                </a:solidFill>
                <a:latin typeface="Arial"/>
                <a:ea typeface="Arial"/>
                <a:cs typeface="Arial"/>
              </a:defRPr>
            </a:pPr>
            <a:r>
              <a:rPr sz="3600" b="0">
                <a:solidFill>
                  <a:schemeClr val="lt1"/>
                </a:solidFill>
                <a:latin typeface="Arial"/>
                <a:ea typeface="Arial"/>
                <a:cs typeface="Arial"/>
              </a:rPr>
              <a:t>et les données</a:t>
            </a:r>
          </a:p>
        </p:txBody>
      </p:sp>
      <p:sp>
        <p:nvSpPr>
          <p:cNvPr id="3" name="Cours · Exercices · Annexes">
            <a:extLst xmlns:a="http://schemas.openxmlformats.org/drawingml/2006/main">
              <a:ext uri="{FF2B5EF4-FFF2-40B4-BE49-F238E27FC236}">
                <a16:creationId xmlns:a16="http://schemas.microsoft.com/office/drawing/2014/main" id="{97D96749-44A5-4036-BD8E-9EEBA595DBC8}"/>
              </a:ext>
            </a:extLst>
          </p:cNvPr>
          <p:cNvSpPr>
            <a:spLocks xmlns:a="http://schemas.openxmlformats.org/drawingml/2006/main" noGrp="1"/>
          </p:cNvSpPr>
          <p:nvPr/>
        </p:nvSpPr>
        <p:spPr>
          <a:xfrm xmlns:a="http://schemas.openxmlformats.org/drawingml/2006/main">
            <a:off x="609600" y="56864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chemeClr val="lt1"/>
                </a:solidFill>
                <a:latin typeface="Arial"/>
                <a:ea typeface="Arial"/>
                <a:cs typeface="Arial"/>
              </a:defRPr>
            </a:pPr>
            <a:r>
              <a:rPr sz="1950" b="0">
                <a:solidFill>
                  <a:schemeClr val="lt1"/>
                </a:solidFill>
                <a:latin typeface="Arial"/>
                <a:ea typeface="Arial"/>
                <a:cs typeface="Arial"/>
              </a:rPr>
              <a:t>Cours · Exercices · Annexes</a:t>
            </a:r>
          </a:p>
        </p:txBody>
      </p:sp>
    </p:spTree>
    <p:extLst>
      <p:ext uri="{BB962C8B-B14F-4D97-AF65-F5344CB8AC3E}">
        <p14:creationId xmlns:p14="http://schemas.microsoft.com/office/powerpoint/2010/main" val="134821509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Un langage commun pour concevoir</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Unifier les points de vue techniques et métier.</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Visualiser, documenter et discuter un système avant son implémentation.</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Choisir les diagrammes utiles à la question posée.</a:t>
            </a:r>
          </a:p>
        </p:txBody>
      </p:sp>
      <p:pic>
        <p:nvPicPr>
          <p:cNvPr id="10" name="Image 9"/>
          <p:cNvPicPr>
            <a:picLocks xmlns:a="http://schemas.openxmlformats.org/drawingml/2006/main" noChangeAspect="1"/>
          </p:cNvPicPr>
          <p:nvPr/>
        </p:nvPicPr>
        <p:blipFill>
          <a:blip xmlns:r="http://schemas.openxmlformats.org/officeDocument/2006/relationships" xmlns:a="http://schemas.openxmlformats.org/drawingml/2006/main" r:embed="R1d15724736324c97"/>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1 · COMPRENDRE UML">
            <a:extLst xmlns:a="http://schemas.openxmlformats.org/drawingml/2006/main">
              <a:ext uri="{FF2B5EF4-FFF2-40B4-BE49-F238E27FC236}">
                <a16:creationId xmlns:a16="http://schemas.microsoft.com/office/drawing/2014/main" id="{4499D798-A3CD-447C-ADDC-558E5BBE1519}"/>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01 · COMPRENDRE UML</a:t>
            </a:r>
          </a:p>
        </p:txBody>
      </p:sp>
      <p:sp>
        <p:nvSpPr>
          <p:cNvPr id="5" name="03">
            <a:extLst xmlns:a="http://schemas.openxmlformats.org/drawingml/2006/main">
              <a:ext uri="{FF2B5EF4-FFF2-40B4-BE49-F238E27FC236}">
                <a16:creationId xmlns:a16="http://schemas.microsoft.com/office/drawing/2014/main" id="{694BBF43-1F82-4339-867E-ADF1AD79F014}"/>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03</a:t>
            </a:r>
          </a:p>
        </p:txBody>
      </p:sp>
    </p:spTree>
    <p:extLst>
      <p:ext uri="{BB962C8B-B14F-4D97-AF65-F5344CB8AC3E}">
        <p14:creationId xmlns:p14="http://schemas.microsoft.com/office/powerpoint/2010/main" val="20588418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Quelques repères historiques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1994–1995 : rapprochement des méthodes Booch, OMT et OOSE.</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1997 : adoption d’UML par l’OMG.</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2005 : UML 2.0 ; 2015 : UML 2.5.</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2017 : publication d’UML 2.5.1.</a:t>
            </a:r>
          </a:p>
        </p:txBody>
      </p:sp>
      <p:pic>
        <p:nvPicPr>
          <p:cNvPr id="10" name="Image 9"/>
          <p:cNvPicPr>
            <a:picLocks xmlns:a="http://schemas.openxmlformats.org/drawingml/2006/main" noChangeAspect="1"/>
          </p:cNvPicPr>
          <p:nvPr/>
        </p:nvPicPr>
        <p:blipFill>
          <a:blip xmlns:r="http://schemas.openxmlformats.org/officeDocument/2006/relationships" xmlns:a="http://schemas.openxmlformats.org/drawingml/2006/main" r:embed="Rae80b5e0ca9d4d9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1 · COMPRENDRE UML">
            <a:extLst xmlns:a="http://schemas.openxmlformats.org/drawingml/2006/main">
              <a:ext uri="{FF2B5EF4-FFF2-40B4-BE49-F238E27FC236}">
                <a16:creationId xmlns:a16="http://schemas.microsoft.com/office/drawing/2014/main" id="{CF2F366F-6AA9-4C83-A5A8-08A0CBA1254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01 · COMPRENDRE UML</a:t>
            </a:r>
          </a:p>
        </p:txBody>
      </p:sp>
      <p:sp>
        <p:nvSpPr>
          <p:cNvPr id="5" name="04">
            <a:extLst xmlns:a="http://schemas.openxmlformats.org/drawingml/2006/main">
              <a:ext uri="{FF2B5EF4-FFF2-40B4-BE49-F238E27FC236}">
                <a16:creationId xmlns:a16="http://schemas.microsoft.com/office/drawing/2014/main" id="{7A3B5D53-D2D4-497A-BB0A-E9E617A8FC22}"/>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04</a:t>
            </a:r>
          </a:p>
        </p:txBody>
      </p:sp>
    </p:spTree>
    <p:extLst>
      <p:ext uri="{BB962C8B-B14F-4D97-AF65-F5344CB8AC3E}">
        <p14:creationId xmlns:p14="http://schemas.microsoft.com/office/powerpoint/2010/main" val="16807691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Les 14 types de diagrammes UML</a:t>
            </a:r>
          </a:p>
        </p:txBody>
      </p:sp>
      <p:pic>
        <p:nvPicPr>
          <p:cNvPr id="11" name="Image 10"/>
          <p:cNvPicPr>
            <a:picLocks xmlns:a="http://schemas.openxmlformats.org/drawingml/2006/main" noChangeAspect="1"/>
          </p:cNvPicPr>
          <p:nvPr/>
        </p:nvPicPr>
        <p:blipFill>
          <a:blip xmlns:r="http://schemas.openxmlformats.org/officeDocument/2006/relationships" xmlns:a="http://schemas.openxmlformats.org/drawingml/2006/main" r:embed="Rf3d258e881cd4161"/>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1 · COMPRENDRE UML">
            <a:extLst xmlns:a="http://schemas.openxmlformats.org/drawingml/2006/main">
              <a:ext uri="{FF2B5EF4-FFF2-40B4-BE49-F238E27FC236}">
                <a16:creationId xmlns:a16="http://schemas.microsoft.com/office/drawing/2014/main" id="{C8CA1A37-BB2B-4814-B2FB-41C5EB48934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01 · COMPRENDRE UML</a:t>
            </a:r>
          </a:p>
        </p:txBody>
      </p:sp>
      <p:sp>
        <p:nvSpPr>
          <p:cNvPr id="4" name="06">
            <a:extLst xmlns:a="http://schemas.openxmlformats.org/drawingml/2006/main">
              <a:ext uri="{FF2B5EF4-FFF2-40B4-BE49-F238E27FC236}">
                <a16:creationId xmlns:a16="http://schemas.microsoft.com/office/drawing/2014/main" id="{A8604851-6DC4-44C9-8EBF-F1E62F2F2CF1}"/>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06</a:t>
            </a:r>
          </a:p>
        </p:txBody>
      </p:sp>
      <p:pic>
        <p:nvPicPr>
          <p:cNvPr id="14" name="Image 13"/>
          <p:cNvPicPr>
            <a:picLocks xmlns:a="http://schemas.openxmlformats.org/drawingml/2006/main" noChangeAspect="1"/>
          </p:cNvPicPr>
          <p:nvPr/>
        </p:nvPicPr>
        <p:blipFill>
          <a:blip xmlns:r="http://schemas.openxmlformats.org/officeDocument/2006/relationships" xmlns:a="http://schemas.openxmlformats.org/drawingml/2006/main" r:embed="R8eb526f8c2df4b53"/>
          <a:stretch xmlns:a="http://schemas.openxmlformats.org/drawingml/2006/main"/>
        </p:blipFill>
        <p:spPr>
          <a:xfrm xmlns:a="http://schemas.openxmlformats.org/drawingml/2006/main">
            <a:off x="2563027" y="1952625"/>
            <a:ext cx="7065945" cy="4143375"/>
          </a:xfrm>
          <a:prstGeom xmlns:a="http://schemas.openxmlformats.org/drawingml/2006/main" prst="rect">
            <a:avLst/>
          </a:prstGeom>
        </p:spPr>
      </p:pic>
    </p:spTree>
    <p:extLst>
      <p:ext uri="{BB962C8B-B14F-4D97-AF65-F5344CB8AC3E}">
        <p14:creationId xmlns:p14="http://schemas.microsoft.com/office/powerpoint/2010/main" val="12588294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BA253B35-2B25-447F-B758-9558F36875E1}"/>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Déméter · un couplage à éviter</a:t>
            </a:r>
          </a:p>
        </p:txBody>
      </p:sp>
      <p:sp>
        <p:nvSpPr>
          <p:cNvPr id="2" name="placeholder_2">
            <a:extLst xmlns:a="http://schemas.openxmlformats.org/drawingml/2006/main">
              <a:ext uri="{FF2B5EF4-FFF2-40B4-BE49-F238E27FC236}">
                <a16:creationId xmlns:a16="http://schemas.microsoft.com/office/drawing/2014/main" id="{31E1A4A7-16B3-491B-8CB0-C6714A1A77B2}"/>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Consolas"/>
                <a:ea typeface="Consolas"/>
                <a:cs typeface="Consolas"/>
              </a:defRPr>
            </a:pPr>
            <a:r>
              <a:rPr sz="2100">
                <a:solidFill>
                  <a:schemeClr val="tx1"/>
                </a:solidFill>
                <a:latin typeface="Consolas"/>
                <a:ea typeface="Consolas"/>
                <a:cs typeface="Consolas"/>
              </a:rPr>
              <a:t>$rue = $client-&gt;getProfil()-&gt;getAdresse()-&gt;getRue();</a:t>
            </a:r>
          </a:p>
        </p:txBody>
      </p:sp>
      <p:pic>
        <p:nvPicPr>
          <p:cNvPr id="10" name="Image 9"/>
          <p:cNvPicPr>
            <a:picLocks xmlns:a="http://schemas.openxmlformats.org/drawingml/2006/main" noChangeAspect="1"/>
          </p:cNvPicPr>
          <p:nvPr/>
        </p:nvPicPr>
        <p:blipFill>
          <a:blip xmlns:r="http://schemas.openxmlformats.org/officeDocument/2006/relationships" xmlns:a="http://schemas.openxmlformats.org/drawingml/2006/main" r:embed="R0b96030d5371462d"/>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1 · POO">
            <a:extLst xmlns:a="http://schemas.openxmlformats.org/drawingml/2006/main">
              <a:ext uri="{FF2B5EF4-FFF2-40B4-BE49-F238E27FC236}">
                <a16:creationId xmlns:a16="http://schemas.microsoft.com/office/drawing/2014/main" id="{4F8DB788-FF9A-4381-8FD1-CE59CBF01A11}"/>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01 · POO</a:t>
            </a:r>
          </a:p>
        </p:txBody>
      </p:sp>
      <p:sp>
        <p:nvSpPr>
          <p:cNvPr id="5" name="81">
            <a:extLst xmlns:a="http://schemas.openxmlformats.org/drawingml/2006/main">
              <a:ext uri="{FF2B5EF4-FFF2-40B4-BE49-F238E27FC236}">
                <a16:creationId xmlns:a16="http://schemas.microsoft.com/office/drawing/2014/main" id="{1F1CBC8C-1ABD-4778-B6E0-DB2CFACDAB3C}"/>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88</a:t>
            </a:r>
          </a:p>
        </p:txBody>
      </p:sp>
    </p:spTree>
    <p:extLst>
      <p:ext uri="{BB962C8B-B14F-4D97-AF65-F5344CB8AC3E}">
        <p14:creationId xmlns:p14="http://schemas.microsoft.com/office/powerpoint/2010/main" val="214079579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Gestion d’événements</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Concevez les usages d’une plateforme d’organisation d’événements d’entreprise.</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Identifiez les acteurs, les fonctionnalités et les besoins de collaboration.</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Construisez le diagramme de cas d’utilisation.</a:t>
            </a:r>
          </a:p>
        </p:txBody>
      </p:sp>
      <p:pic>
        <p:nvPicPr>
          <p:cNvPr id="10" name="Image 9"/>
          <p:cNvPicPr>
            <a:picLocks xmlns:a="http://schemas.openxmlformats.org/drawingml/2006/main" noChangeAspect="1"/>
          </p:cNvPicPr>
          <p:nvPr/>
        </p:nvPicPr>
        <p:blipFill>
          <a:blip xmlns:r="http://schemas.openxmlformats.org/officeDocument/2006/relationships" xmlns:a="http://schemas.openxmlformats.org/drawingml/2006/main" r:embed="R06ffeb84e0914273"/>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2A4559EC-9A99-45D8-BE2A-29A4CFDE8C9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13">
            <a:extLst xmlns:a="http://schemas.openxmlformats.org/drawingml/2006/main">
              <a:ext uri="{FF2B5EF4-FFF2-40B4-BE49-F238E27FC236}">
                <a16:creationId xmlns:a16="http://schemas.microsoft.com/office/drawing/2014/main" id="{51190735-63F9-4369-AB50-89C6D061CC61}"/>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13</a:t>
            </a:r>
          </a:p>
        </p:txBody>
      </p:sp>
    </p:spTree>
    <p:extLst>
      <p:ext uri="{BB962C8B-B14F-4D97-AF65-F5344CB8AC3E}">
        <p14:creationId xmlns:p14="http://schemas.microsoft.com/office/powerpoint/2010/main" val="3799605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Un modèle doit éclairer une décision</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Choisissez la vue qui répond à votre question.</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Rendez explicites les hypothèses et les contraintes.</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Vérifiez la cohérence entre exigences, interactions, classes et données.</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Faites relire les modèles et maintenez-les avec le système.</a:t>
            </a:r>
          </a:p>
        </p:txBody>
      </p:sp>
      <p:pic>
        <p:nvPicPr>
          <p:cNvPr id="10" name="Image 9"/>
          <p:cNvPicPr>
            <a:picLocks xmlns:a="http://schemas.openxmlformats.org/drawingml/2006/main" noChangeAspect="1"/>
          </p:cNvPicPr>
          <p:nvPr/>
        </p:nvPicPr>
        <p:blipFill>
          <a:blip xmlns:r="http://schemas.openxmlformats.org/officeDocument/2006/relationships" xmlns:a="http://schemas.openxmlformats.org/drawingml/2006/main" r:embed="Ra0dbe8da7d5e4304"/>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SYNTHÈSE">
            <a:extLst xmlns:a="http://schemas.openxmlformats.org/drawingml/2006/main">
              <a:ext uri="{FF2B5EF4-FFF2-40B4-BE49-F238E27FC236}">
                <a16:creationId xmlns:a16="http://schemas.microsoft.com/office/drawing/2014/main" id="{1F52E310-6CC2-4F5A-A49C-8175EA627602}"/>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SYNTHÈSE</a:t>
            </a:r>
          </a:p>
        </p:txBody>
      </p:sp>
      <p:sp>
        <p:nvSpPr>
          <p:cNvPr id="5" name="92">
            <a:extLst xmlns:a="http://schemas.openxmlformats.org/drawingml/2006/main">
              <a:ext uri="{FF2B5EF4-FFF2-40B4-BE49-F238E27FC236}">
                <a16:creationId xmlns:a16="http://schemas.microsoft.com/office/drawing/2014/main" id="{293830BC-E6BF-4844-A5C6-177C31F7F1F8}"/>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99</a:t>
            </a:r>
          </a:p>
        </p:txBody>
      </p:sp>
    </p:spTree>
    <p:extLst>
      <p:ext uri="{BB962C8B-B14F-4D97-AF65-F5344CB8AC3E}">
        <p14:creationId xmlns:p14="http://schemas.microsoft.com/office/powerpoint/2010/main" val="76588177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Un langage commun pour concevoir</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Unifier les points de vue techniques et métier.</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Visualiser, documenter et discuter un système avant son implémentation.</a:t>
            </a:r>
          </a:p>
          <a:p xmlns:a="http://schemas.openxmlformats.org/drawingml/2006/main">
            <a:pPr>
              <a:buNone/>
              <a:defRPr sz="2100">
                <a:solidFill>
                  <a:schemeClr val="tx1"/>
                </a:solidFill>
                <a:latin typeface="Arial"/>
                <a:ea typeface="Arial"/>
                <a:cs typeface="Arial"/>
              </a:defRPr>
            </a:pPr>
            <a:endParaRPr sz="2100">
              <a:solidFill>
                <a:schemeClr val="tx1"/>
              </a:solidFill>
              <a:latin typeface="Arial"/>
              <a:ea typeface="Arial"/>
              <a:cs typeface="Arial"/>
            </a:endParaRP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Choisir les diagrammes utiles à la question posée.</a:t>
            </a:r>
          </a:p>
        </p:txBody>
      </p:sp>
      <p:pic>
        <p:nvPicPr>
          <p:cNvPr id="10" name="Image 9"/>
          <p:cNvPicPr>
            <a:picLocks xmlns:a="http://schemas.openxmlformats.org/drawingml/2006/main" noChangeAspect="1"/>
          </p:cNvPicPr>
          <p:nvPr/>
        </p:nvPicPr>
        <p:blipFill>
          <a:blip xmlns:r="http://schemas.openxmlformats.org/officeDocument/2006/relationships" xmlns:a="http://schemas.openxmlformats.org/drawingml/2006/main" r:embed="R40404782bac940d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1 · COMPRENDRE UML">
            <a:extLst xmlns:a="http://schemas.openxmlformats.org/drawingml/2006/main">
              <a:ext uri="{FF2B5EF4-FFF2-40B4-BE49-F238E27FC236}">
                <a16:creationId xmlns:a16="http://schemas.microsoft.com/office/drawing/2014/main" id="{4499D798-A3CD-447C-ADDC-558E5BBE1519}"/>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01 · COMPRENDRE UML</a:t>
            </a:r>
          </a:p>
        </p:txBody>
      </p:sp>
      <p:sp>
        <p:nvSpPr>
          <p:cNvPr id="5" name="03">
            <a:extLst xmlns:a="http://schemas.openxmlformats.org/drawingml/2006/main">
              <a:ext uri="{FF2B5EF4-FFF2-40B4-BE49-F238E27FC236}">
                <a16:creationId xmlns:a16="http://schemas.microsoft.com/office/drawing/2014/main" id="{694BBF43-1F82-4339-867E-ADF1AD79F014}"/>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03</a:t>
            </a:r>
          </a:p>
        </p:txBody>
      </p:sp>
    </p:spTree>
    <p:extLst>
      <p:ext uri="{BB962C8B-B14F-4D97-AF65-F5344CB8AC3E}">
        <p14:creationId xmlns:p14="http://schemas.microsoft.com/office/powerpoint/2010/main" val="205884188"/>
      </p:ext>
    </p:extLst>
  </p:cSld>
</p:sld>
</file>

<file path=ppt/theme/theme1.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2026-09-04T12:16:47.0550000Z</dcterms:created>
  <dcterms:modified xsi:type="dcterms:W3CDTF">2026-09-04T12:16:47.0550000Z</dcterms:modified>
</coreProperties>
</file>